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Roboto"/>
      <p:regular r:id="rId20"/>
      <p:bold r:id="rId21"/>
      <p:italic r:id="rId22"/>
      <p:boldItalic r:id="rId23"/>
    </p:embeddedFont>
    <p:embeddedFont>
      <p:font typeface="Gill Sans"/>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19JUv6UAu+Z16bqPR0vHqvWd8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GillSans-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GillSans-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590b891d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8590b891d7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38590b891d7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a99c8d15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7a99c8d156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37a99c8d156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590b891d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8590b891d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g38590b891d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8" name="Shape 18"/>
        <p:cNvGrpSpPr/>
        <p:nvPr/>
      </p:nvGrpSpPr>
      <p:grpSpPr>
        <a:xfrm>
          <a:off x="0" y="0"/>
          <a:ext cx="0" cy="0"/>
          <a:chOff x="0" y="0"/>
          <a:chExt cx="0" cy="0"/>
        </a:xfrm>
      </p:grpSpPr>
      <p:sp>
        <p:nvSpPr>
          <p:cNvPr id="19" name="Google Shape;19;p15"/>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5"/>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22" name="Google Shape;22;p15"/>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type="obj">
  <p:cSld name="OBJECT">
    <p:spTree>
      <p:nvGrpSpPr>
        <p:cNvPr id="25" name="Shape 25"/>
        <p:cNvGrpSpPr/>
        <p:nvPr/>
      </p:nvGrpSpPr>
      <p:grpSpPr>
        <a:xfrm>
          <a:off x="0" y="0"/>
          <a:ext cx="0" cy="0"/>
          <a:chOff x="0" y="0"/>
          <a:chExt cx="0" cy="0"/>
        </a:xfrm>
      </p:grpSpPr>
      <p:sp>
        <p:nvSpPr>
          <p:cNvPr id="26" name="Google Shape;26;p16"/>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6"/>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9" name="Google Shape;29;p1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ntenido" type="twoObj">
  <p:cSld name="TWO_OBJECTS">
    <p:spTree>
      <p:nvGrpSpPr>
        <p:cNvPr id="32" name="Shape 32"/>
        <p:cNvGrpSpPr/>
        <p:nvPr/>
      </p:nvGrpSpPr>
      <p:grpSpPr>
        <a:xfrm>
          <a:off x="0" y="0"/>
          <a:ext cx="0" cy="0"/>
          <a:chOff x="0" y="0"/>
          <a:chExt cx="0" cy="0"/>
        </a:xfrm>
      </p:grpSpPr>
      <p:sp>
        <p:nvSpPr>
          <p:cNvPr id="33" name="Google Shape;33;p17"/>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6" name="Google Shape;36;p17"/>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7" name="Google Shape;37;p1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0" name="Shape 40"/>
        <p:cNvGrpSpPr/>
        <p:nvPr/>
      </p:nvGrpSpPr>
      <p:grpSpPr>
        <a:xfrm>
          <a:off x="0" y="0"/>
          <a:ext cx="0" cy="0"/>
          <a:chOff x="0" y="0"/>
          <a:chExt cx="0" cy="0"/>
        </a:xfrm>
      </p:grpSpPr>
      <p:sp>
        <p:nvSpPr>
          <p:cNvPr id="41" name="Google Shape;41;p18"/>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8"/>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44" name="Google Shape;44;p1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19"/>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9"/>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9"/>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51" name="Google Shape;51;p19"/>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2" name="Google Shape;52;p19"/>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53" name="Google Shape;53;p19"/>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4" name="Google Shape;54;p1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2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61" name="Google Shape;61;p20"/>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0"/>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3" name="Shape 63"/>
        <p:cNvGrpSpPr/>
        <p:nvPr/>
      </p:nvGrpSpPr>
      <p:grpSpPr>
        <a:xfrm>
          <a:off x="0" y="0"/>
          <a:ext cx="0" cy="0"/>
          <a:chOff x="0" y="0"/>
          <a:chExt cx="0" cy="0"/>
        </a:xfrm>
      </p:grpSpPr>
      <p:sp>
        <p:nvSpPr>
          <p:cNvPr id="64" name="Google Shape;64;p2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7" name="Shape 67"/>
        <p:cNvGrpSpPr/>
        <p:nvPr/>
      </p:nvGrpSpPr>
      <p:grpSpPr>
        <a:xfrm>
          <a:off x="0" y="0"/>
          <a:ext cx="0" cy="0"/>
          <a:chOff x="0" y="0"/>
          <a:chExt cx="0" cy="0"/>
        </a:xfrm>
      </p:grpSpPr>
      <p:sp>
        <p:nvSpPr>
          <p:cNvPr id="68" name="Google Shape;68;p22"/>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2"/>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71" name="Google Shape;71;p22"/>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2" name="Google Shape;72;p22"/>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type="picTx">
  <p:cSld name="PICTURE_WITH_CAPTION_TEXT">
    <p:spTree>
      <p:nvGrpSpPr>
        <p:cNvPr id="75" name="Shape 75"/>
        <p:cNvGrpSpPr/>
        <p:nvPr/>
      </p:nvGrpSpPr>
      <p:grpSpPr>
        <a:xfrm>
          <a:off x="0" y="0"/>
          <a:ext cx="0" cy="0"/>
          <a:chOff x="0" y="0"/>
          <a:chExt cx="0" cy="0"/>
        </a:xfrm>
      </p:grpSpPr>
      <p:sp>
        <p:nvSpPr>
          <p:cNvPr id="76" name="Google Shape;76;p23"/>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p:nvPr>
            <p:ph idx="2" type="pic"/>
          </p:nvPr>
        </p:nvSpPr>
        <p:spPr>
          <a:xfrm>
            <a:off x="447817" y="599725"/>
            <a:ext cx="11290859" cy="3557252"/>
          </a:xfrm>
          <a:prstGeom prst="rect">
            <a:avLst/>
          </a:prstGeom>
          <a:noFill/>
          <a:ln>
            <a:noFill/>
          </a:ln>
        </p:spPr>
      </p:sp>
      <p:sp>
        <p:nvSpPr>
          <p:cNvPr id="78" name="Google Shape;78;p23"/>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9" name="Google Shape;79;p2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3"/>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2" name="Shape 82"/>
        <p:cNvGrpSpPr/>
        <p:nvPr/>
      </p:nvGrpSpPr>
      <p:grpSpPr>
        <a:xfrm>
          <a:off x="0" y="0"/>
          <a:ext cx="0" cy="0"/>
          <a:chOff x="0" y="0"/>
          <a:chExt cx="0" cy="0"/>
        </a:xfrm>
      </p:grpSpPr>
      <p:sp>
        <p:nvSpPr>
          <p:cNvPr id="83" name="Google Shape;83;p24"/>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4"/>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4"/>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3"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6" name="Google Shape;86;p2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9" name="Shape 89"/>
        <p:cNvGrpSpPr/>
        <p:nvPr/>
      </p:nvGrpSpPr>
      <p:grpSpPr>
        <a:xfrm>
          <a:off x="0" y="0"/>
          <a:ext cx="0" cy="0"/>
          <a:chOff x="0" y="0"/>
          <a:chExt cx="0" cy="0"/>
        </a:xfrm>
      </p:grpSpPr>
      <p:sp>
        <p:nvSpPr>
          <p:cNvPr id="90" name="Google Shape;90;p25"/>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5"/>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5"/>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93" name="Google Shape;93;p25"/>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5"/>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5"/>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1" name="Google Shape;11;p14"/>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1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1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5" name="Google Shape;15;p14"/>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4"/>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4"/>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Conexiones digitales" id="102" name="Google Shape;102;p1"/>
          <p:cNvPicPr preferRelativeResize="0"/>
          <p:nvPr/>
        </p:nvPicPr>
        <p:blipFill rotWithShape="1">
          <a:blip r:embed="rId3">
            <a:alphaModFix/>
          </a:blip>
          <a:srcRect b="0" l="13265" r="3502" t="9089"/>
          <a:stretch/>
        </p:blipFill>
        <p:spPr>
          <a:xfrm>
            <a:off x="20" y="10"/>
            <a:ext cx="12191980" cy="6857990"/>
          </a:xfrm>
          <a:prstGeom prst="rect">
            <a:avLst/>
          </a:prstGeom>
          <a:noFill/>
          <a:ln>
            <a:noFill/>
          </a:ln>
        </p:spPr>
      </p:pic>
      <p:grpSp>
        <p:nvGrpSpPr>
          <p:cNvPr id="103" name="Google Shape;103;p1"/>
          <p:cNvGrpSpPr/>
          <p:nvPr/>
        </p:nvGrpSpPr>
        <p:grpSpPr>
          <a:xfrm>
            <a:off x="446534" y="453643"/>
            <a:ext cx="11298933" cy="98554"/>
            <a:chOff x="446534" y="453643"/>
            <a:chExt cx="11298933" cy="98554"/>
          </a:xfrm>
        </p:grpSpPr>
        <p:sp>
          <p:nvSpPr>
            <p:cNvPr id="104" name="Google Shape;104;p1"/>
            <p:cNvSpPr/>
            <p:nvPr/>
          </p:nvSpPr>
          <p:spPr>
            <a:xfrm>
              <a:off x="446534" y="457200"/>
              <a:ext cx="3703320" cy="9499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5" name="Google Shape;105;p1"/>
            <p:cNvSpPr/>
            <p:nvPr/>
          </p:nvSpPr>
          <p:spPr>
            <a:xfrm>
              <a:off x="8042147" y="453643"/>
              <a:ext cx="3703320" cy="98554"/>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6" name="Google Shape;106;p1"/>
            <p:cNvSpPr/>
            <p:nvPr/>
          </p:nvSpPr>
          <p:spPr>
            <a:xfrm>
              <a:off x="4241830" y="457200"/>
              <a:ext cx="3703320" cy="9144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107" name="Google Shape;107;p1"/>
          <p:cNvSpPr/>
          <p:nvPr/>
        </p:nvSpPr>
        <p:spPr>
          <a:xfrm>
            <a:off x="448732" y="4428067"/>
            <a:ext cx="11260667" cy="1962497"/>
          </a:xfrm>
          <a:prstGeom prst="rect">
            <a:avLst/>
          </a:prstGeom>
          <a:solidFill>
            <a:schemeClr val="accent1">
              <a:alpha val="9647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8" name="Google Shape;108;p1"/>
          <p:cNvSpPr txBox="1"/>
          <p:nvPr>
            <p:ph type="ctrTitle"/>
          </p:nvPr>
        </p:nvSpPr>
        <p:spPr>
          <a:xfrm>
            <a:off x="581191" y="4572000"/>
            <a:ext cx="10993549" cy="895244"/>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1"/>
              </a:buClr>
              <a:buSzPts val="6000"/>
              <a:buFont typeface="Gill Sans"/>
              <a:buNone/>
            </a:pPr>
            <a:r>
              <a:rPr lang="es-ES" sz="3000">
                <a:solidFill>
                  <a:schemeClr val="lt1"/>
                </a:solidFill>
              </a:rPr>
              <a:t>[PROYECTO SALDOS INSOLUTOS ]</a:t>
            </a:r>
            <a:endParaRPr sz="3000"/>
          </a:p>
        </p:txBody>
      </p:sp>
      <p:sp>
        <p:nvSpPr>
          <p:cNvPr id="109" name="Google Shape;109;p1"/>
          <p:cNvSpPr txBox="1"/>
          <p:nvPr>
            <p:ph idx="1" type="subTitle"/>
          </p:nvPr>
        </p:nvSpPr>
        <p:spPr>
          <a:xfrm>
            <a:off x="581194" y="5467246"/>
            <a:ext cx="10993546" cy="48482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72"/>
              <a:buNone/>
            </a:pPr>
            <a:r>
              <a:rPr lang="es-ES">
                <a:solidFill>
                  <a:srgbClr val="7CEBFF"/>
                </a:solidFill>
              </a:rPr>
              <a:t>[INSTITUTO DE PREVISIÓN SOCIAL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2"/>
          <p:cNvSpPr/>
          <p:nvPr/>
        </p:nvSpPr>
        <p:spPr>
          <a:xfrm>
            <a:off x="447817" y="5141974"/>
            <a:ext cx="11290860" cy="12588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16" name="Google Shape;116;p2"/>
          <p:cNvSpPr txBox="1"/>
          <p:nvPr>
            <p:ph type="title"/>
          </p:nvPr>
        </p:nvSpPr>
        <p:spPr>
          <a:xfrm>
            <a:off x="581192" y="5264487"/>
            <a:ext cx="11029616" cy="71887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FFFEFF"/>
              </a:buClr>
              <a:buSzPts val="2800"/>
              <a:buFont typeface="Gill Sans"/>
              <a:buNone/>
            </a:pPr>
            <a:r>
              <a:rPr lang="es-ES">
                <a:solidFill>
                  <a:srgbClr val="FFFEFF"/>
                </a:solidFill>
              </a:rPr>
              <a:t>EQUIPO</a:t>
            </a:r>
            <a:endParaRPr>
              <a:solidFill>
                <a:srgbClr val="FFFEFF"/>
              </a:solidFill>
            </a:endParaRPr>
          </a:p>
        </p:txBody>
      </p:sp>
      <p:pic>
        <p:nvPicPr>
          <p:cNvPr id="117" name="Google Shape;117;p2"/>
          <p:cNvPicPr preferRelativeResize="0"/>
          <p:nvPr/>
        </p:nvPicPr>
        <p:blipFill rotWithShape="1">
          <a:blip r:embed="rId3">
            <a:alphaModFix/>
          </a:blip>
          <a:srcRect b="0" l="0" r="0" t="0"/>
          <a:stretch/>
        </p:blipFill>
        <p:spPr>
          <a:xfrm>
            <a:off x="967287" y="1951575"/>
            <a:ext cx="2954875" cy="2954875"/>
          </a:xfrm>
          <a:prstGeom prst="rect">
            <a:avLst/>
          </a:prstGeom>
          <a:noFill/>
          <a:ln>
            <a:noFill/>
          </a:ln>
        </p:spPr>
      </p:pic>
      <p:sp>
        <p:nvSpPr>
          <p:cNvPr id="118" name="Google Shape;118;p2"/>
          <p:cNvSpPr txBox="1"/>
          <p:nvPr/>
        </p:nvSpPr>
        <p:spPr>
          <a:xfrm>
            <a:off x="4938350" y="2089213"/>
            <a:ext cx="6070800" cy="2679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s-ES" sz="3300" u="none" cap="none" strike="noStrike">
                <a:solidFill>
                  <a:schemeClr val="dk2"/>
                </a:solidFill>
                <a:latin typeface="Gill Sans"/>
                <a:ea typeface="Gill Sans"/>
                <a:cs typeface="Gill Sans"/>
                <a:sym typeface="Gill Sans"/>
              </a:rPr>
              <a:t>Yeremias Venegas.</a:t>
            </a:r>
            <a:endParaRPr b="0" i="0" sz="3300" u="none" cap="none" strike="noStrike">
              <a:solidFill>
                <a:schemeClr val="dk2"/>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3300"/>
              <a:buFont typeface="Arial"/>
              <a:buNone/>
            </a:pPr>
            <a:r>
              <a:t/>
            </a:r>
            <a:endParaRPr b="0" i="0" sz="3300" u="none" cap="none" strike="noStrike">
              <a:solidFill>
                <a:schemeClr val="dk2"/>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3300"/>
              <a:buFont typeface="Arial"/>
              <a:buNone/>
            </a:pPr>
            <a:r>
              <a:rPr b="0" i="0" lang="es-ES" sz="3300" u="none" cap="none" strike="noStrike">
                <a:solidFill>
                  <a:schemeClr val="dk2"/>
                </a:solidFill>
                <a:latin typeface="Gill Sans"/>
                <a:ea typeface="Gill Sans"/>
                <a:cs typeface="Gill Sans"/>
                <a:sym typeface="Gill Sans"/>
              </a:rPr>
              <a:t>Sebastian Madrid.</a:t>
            </a:r>
            <a:endParaRPr b="0" i="0" sz="3300" u="none" cap="none" strike="noStrike">
              <a:solidFill>
                <a:schemeClr val="dk2"/>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3300"/>
              <a:buFont typeface="Arial"/>
              <a:buNone/>
            </a:pPr>
            <a:r>
              <a:t/>
            </a:r>
            <a:endParaRPr b="0" i="0" sz="3300" u="none" cap="none" strike="noStrike">
              <a:solidFill>
                <a:schemeClr val="dk2"/>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3300"/>
              <a:buFont typeface="Arial"/>
              <a:buNone/>
            </a:pPr>
            <a:r>
              <a:rPr b="0" i="0" lang="es-ES" sz="3300" u="none" cap="none" strike="noStrike">
                <a:solidFill>
                  <a:schemeClr val="dk2"/>
                </a:solidFill>
                <a:latin typeface="Gill Sans"/>
                <a:ea typeface="Gill Sans"/>
                <a:cs typeface="Gill Sans"/>
                <a:sym typeface="Gill Sans"/>
              </a:rPr>
              <a:t>José Olivares.</a:t>
            </a:r>
            <a:endParaRPr b="0" i="0" sz="3300" u="none" cap="none" strike="noStrike">
              <a:solidFill>
                <a:schemeClr val="dk2"/>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CASO DE NEGOCIO </a:t>
            </a:r>
            <a:endParaRPr/>
          </a:p>
        </p:txBody>
      </p:sp>
      <p:sp>
        <p:nvSpPr>
          <p:cNvPr id="125" name="Google Shape;125;p3"/>
          <p:cNvSpPr txBox="1"/>
          <p:nvPr/>
        </p:nvSpPr>
        <p:spPr>
          <a:xfrm>
            <a:off x="581275" y="2155800"/>
            <a:ext cx="11029500" cy="40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ES" sz="2100" u="none" cap="none" strike="noStrike">
                <a:solidFill>
                  <a:schemeClr val="dk2"/>
                </a:solidFill>
                <a:latin typeface="Gill Sans"/>
                <a:ea typeface="Gill Sans"/>
                <a:cs typeface="Gill Sans"/>
                <a:sym typeface="Gill Sans"/>
              </a:rPr>
              <a:t>Un saldo insoluto es el monto de dinero pendiente por pagar  a un causante- pensionado-y que puede ser cobrado por sus herederos , estos valores corresponden a beneficios otorgados en el IPS. Para su entrega, este saldo debe ser gestionado, documentado, validado y autorizado mediante la firma de los herederos y la aprobación de la jefatura de sucursal correspondiente , garantizando la legalidad y trazabilidad del proceso. </a:t>
            </a:r>
            <a:endParaRPr b="0" i="0" sz="2100" u="none" cap="none" strike="noStrike">
              <a:solidFill>
                <a:schemeClr val="dk2"/>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2"/>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100"/>
              <a:buFont typeface="Arial"/>
              <a:buNone/>
            </a:pPr>
            <a:r>
              <a:rPr b="0" i="0" lang="es-ES" sz="2100" u="none" cap="none" strike="noStrike">
                <a:solidFill>
                  <a:schemeClr val="dk2"/>
                </a:solidFill>
                <a:latin typeface="Gill Sans"/>
                <a:ea typeface="Gill Sans"/>
                <a:cs typeface="Gill Sans"/>
                <a:sym typeface="Gill Sans"/>
              </a:rPr>
              <a:t>Sin embargo, para cobrar el saldo insoluto, es necesario realizar el trámite presencialmente en una oficina de ChileAtiende, lo cual hace que sea un proceso engorroso especialmente considerando que al ser un </a:t>
            </a:r>
            <a:r>
              <a:rPr lang="es-ES" sz="2100">
                <a:solidFill>
                  <a:schemeClr val="dk2"/>
                </a:solidFill>
                <a:latin typeface="Gill Sans"/>
                <a:ea typeface="Gill Sans"/>
                <a:cs typeface="Gill Sans"/>
                <a:sym typeface="Gill Sans"/>
              </a:rPr>
              <a:t>trámite</a:t>
            </a:r>
            <a:r>
              <a:rPr b="0" i="0" lang="es-ES" sz="2100" u="none" cap="none" strike="noStrike">
                <a:solidFill>
                  <a:schemeClr val="dk2"/>
                </a:solidFill>
                <a:latin typeface="Gill Sans"/>
                <a:ea typeface="Gill Sans"/>
                <a:cs typeface="Gill Sans"/>
                <a:sym typeface="Gill Sans"/>
              </a:rPr>
              <a:t> que requiere firmas , en muchas ocasiones los herederos pueden estar fuera de la región y / o del país </a:t>
            </a:r>
            <a:endParaRPr b="0" i="0" sz="2100" u="none" cap="none" strike="noStrike">
              <a:solidFill>
                <a:schemeClr val="dk2"/>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8590b891d7_0_9"/>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800"/>
              <a:buNone/>
            </a:pPr>
            <a:r>
              <a:rPr lang="es-ES"/>
              <a:t>PROCESO SALDO INSOLUTO </a:t>
            </a:r>
            <a:endParaRPr/>
          </a:p>
        </p:txBody>
      </p:sp>
      <p:pic>
        <p:nvPicPr>
          <p:cNvPr id="132" name="Google Shape;132;g38590b891d7_0_9"/>
          <p:cNvPicPr preferRelativeResize="0"/>
          <p:nvPr/>
        </p:nvPicPr>
        <p:blipFill rotWithShape="1">
          <a:blip r:embed="rId3">
            <a:alphaModFix/>
          </a:blip>
          <a:srcRect b="0" l="0" r="0" t="0"/>
          <a:stretch/>
        </p:blipFill>
        <p:spPr>
          <a:xfrm>
            <a:off x="2232600" y="2069725"/>
            <a:ext cx="7892927" cy="4586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7a99c8d156_0_6"/>
          <p:cNvSpPr txBox="1"/>
          <p:nvPr>
            <p:ph idx="1" type="body"/>
          </p:nvPr>
        </p:nvSpPr>
        <p:spPr>
          <a:xfrm>
            <a:off x="581200" y="2228000"/>
            <a:ext cx="10912500" cy="36330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s-ES" sz="2000">
                <a:solidFill>
                  <a:schemeClr val="dk1"/>
                </a:solidFill>
              </a:rPr>
              <a:t>El proyecto APT tiene como objetivo digitalizar el proceso de gestión de </a:t>
            </a:r>
            <a:r>
              <a:rPr b="1" lang="es-ES" sz="2000">
                <a:solidFill>
                  <a:schemeClr val="dk1"/>
                </a:solidFill>
              </a:rPr>
              <a:t>saldos insolutos</a:t>
            </a:r>
            <a:r>
              <a:rPr lang="es-ES" sz="2000">
                <a:solidFill>
                  <a:schemeClr val="dk1"/>
                </a:solidFill>
              </a:rPr>
              <a:t> de ChileAtiende, que son pagos pendientes para los herederos de una persona fallecida. Este trámite, que actualmente es </a:t>
            </a:r>
            <a:r>
              <a:rPr b="1" lang="es-ES" sz="2000">
                <a:solidFill>
                  <a:schemeClr val="dk1"/>
                </a:solidFill>
              </a:rPr>
              <a:t>manual, complejo y centralizado</a:t>
            </a:r>
            <a:r>
              <a:rPr lang="es-ES" sz="2000">
                <a:solidFill>
                  <a:schemeClr val="dk1"/>
                </a:solidFill>
              </a:rPr>
              <a:t>, genera demoras y la pérdida de documentos, lo que causa inconvenientes tanto para los usuarios como para los funcionarios.</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ES" sz="2000">
                <a:solidFill>
                  <a:schemeClr val="dk1"/>
                </a:solidFill>
              </a:rPr>
              <a:t>La nueva </a:t>
            </a:r>
            <a:r>
              <a:rPr b="1" lang="es-ES" sz="2000">
                <a:solidFill>
                  <a:schemeClr val="dk1"/>
                </a:solidFill>
              </a:rPr>
              <a:t>solución informática</a:t>
            </a:r>
            <a:r>
              <a:rPr lang="es-ES" sz="2000">
                <a:solidFill>
                  <a:schemeClr val="dk1"/>
                </a:solidFill>
              </a:rPr>
              <a:t> eliminará por completo el uso de papel, permitiendo la </a:t>
            </a:r>
            <a:r>
              <a:rPr b="1" lang="es-ES" sz="2000">
                <a:solidFill>
                  <a:schemeClr val="dk1"/>
                </a:solidFill>
              </a:rPr>
              <a:t>validación y firma electrónica</a:t>
            </a:r>
            <a:r>
              <a:rPr lang="es-ES" sz="2000">
                <a:solidFill>
                  <a:schemeClr val="dk1"/>
                </a:solidFill>
              </a:rPr>
              <a:t> de documentos. Esto no solo simplificará el proceso, sino que también </a:t>
            </a:r>
            <a:r>
              <a:rPr b="1" lang="es-ES" sz="2000">
                <a:solidFill>
                  <a:schemeClr val="dk1"/>
                </a:solidFill>
              </a:rPr>
              <a:t>optimizará la eficiencia</a:t>
            </a:r>
            <a:r>
              <a:rPr lang="es-ES" sz="2000">
                <a:solidFill>
                  <a:schemeClr val="dk1"/>
                </a:solidFill>
              </a:rPr>
              <a:t> en las sucursales, reduciendo los tiempos de atencion de los funcionarios y los tiempos de espera de aprobacion de dichos instrumentos  , mejorando significativamente la experiencia de quienes necesitan realizar este trámite.</a:t>
            </a:r>
            <a:endParaRPr sz="2000">
              <a:solidFill>
                <a:schemeClr val="dk1"/>
              </a:solidFill>
            </a:endParaRPr>
          </a:p>
          <a:p>
            <a:pPr indent="0" lvl="0" marL="0" rtl="0" algn="l">
              <a:lnSpc>
                <a:spcPct val="100000"/>
              </a:lnSpc>
              <a:spcBef>
                <a:spcPts val="1200"/>
              </a:spcBef>
              <a:spcAft>
                <a:spcPts val="600"/>
              </a:spcAft>
              <a:buSzPts val="1656"/>
              <a:buNone/>
            </a:pPr>
            <a:r>
              <a:t/>
            </a:r>
            <a:endParaRPr/>
          </a:p>
        </p:txBody>
      </p:sp>
      <p:sp>
        <p:nvSpPr>
          <p:cNvPr id="139" name="Google Shape;139;g37a99c8d156_0_6"/>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OBJETIVO DEL PROYECTO.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Números digitales" id="146" name="Google Shape;146;p4"/>
          <p:cNvPicPr preferRelativeResize="0"/>
          <p:nvPr/>
        </p:nvPicPr>
        <p:blipFill rotWithShape="1">
          <a:blip r:embed="rId3">
            <a:alphaModFix/>
          </a:blip>
          <a:srcRect b="12709" l="0" r="9091" t="10681"/>
          <a:stretch/>
        </p:blipFill>
        <p:spPr>
          <a:xfrm>
            <a:off x="-47480" y="-4228"/>
            <a:ext cx="12191977" cy="6857990"/>
          </a:xfrm>
          <a:prstGeom prst="rect">
            <a:avLst/>
          </a:prstGeom>
          <a:noFill/>
          <a:ln>
            <a:noFill/>
          </a:ln>
        </p:spPr>
      </p:pic>
      <p:sp>
        <p:nvSpPr>
          <p:cNvPr id="147" name="Google Shape;147;p4"/>
          <p:cNvSpPr/>
          <p:nvPr/>
        </p:nvSpPr>
        <p:spPr>
          <a:xfrm>
            <a:off x="456960" y="1227251"/>
            <a:ext cx="4524497" cy="3866290"/>
          </a:xfrm>
          <a:prstGeom prst="rect">
            <a:avLst/>
          </a:prstGeom>
          <a:solidFill>
            <a:schemeClr val="accent1">
              <a:alpha val="96470"/>
            </a:schemeClr>
          </a:solidFill>
          <a:ln>
            <a:noFill/>
          </a:ln>
        </p:spPr>
        <p:txBody>
          <a:bodyPr anchorCtr="0" anchor="t" bIns="25225" lIns="50450" spcFirstLastPara="1" rIns="50450" wrap="square" tIns="25225">
            <a:noAutofit/>
          </a:bodyPr>
          <a:lstStyle/>
          <a:p>
            <a:pPr indent="0" lvl="0" marL="0" marR="0" rtl="0" algn="just">
              <a:lnSpc>
                <a:spcPct val="107916"/>
              </a:lnSpc>
              <a:spcBef>
                <a:spcPts val="0"/>
              </a:spcBef>
              <a:spcAft>
                <a:spcPts val="0"/>
              </a:spcAft>
              <a:buClr>
                <a:srgbClr val="000000"/>
              </a:buClr>
              <a:buSzPts val="1100"/>
              <a:buFont typeface="Arial"/>
              <a:buNone/>
            </a:pPr>
            <a:r>
              <a:t/>
            </a:r>
            <a:endParaRPr b="0" i="1" sz="1000" u="none" cap="none" strike="noStrike">
              <a:solidFill>
                <a:srgbClr val="548DD4"/>
              </a:solidFill>
              <a:latin typeface="Calibri"/>
              <a:ea typeface="Calibri"/>
              <a:cs typeface="Calibri"/>
              <a:sym typeface="Calibri"/>
            </a:endParaRPr>
          </a:p>
          <a:p>
            <a:pPr indent="0" lvl="0" marL="0" marR="0" rtl="0" algn="just">
              <a:lnSpc>
                <a:spcPct val="107916"/>
              </a:lnSpc>
              <a:spcBef>
                <a:spcPts val="800"/>
              </a:spcBef>
              <a:spcAft>
                <a:spcPts val="0"/>
              </a:spcAft>
              <a:buClr>
                <a:srgbClr val="000000"/>
              </a:buClr>
              <a:buSzPts val="1100"/>
              <a:buFont typeface="Arial"/>
              <a:buNone/>
            </a:pPr>
            <a:r>
              <a:t/>
            </a:r>
            <a:endParaRPr b="0" i="1" sz="1000" u="none" cap="none" strike="noStrike">
              <a:solidFill>
                <a:srgbClr val="548DD4"/>
              </a:solidFill>
              <a:latin typeface="Calibri"/>
              <a:ea typeface="Calibri"/>
              <a:cs typeface="Calibri"/>
              <a:sym typeface="Calibri"/>
            </a:endParaRPr>
          </a:p>
          <a:p>
            <a:pPr indent="0" lvl="0" marL="0" marR="0" rtl="0" algn="just">
              <a:lnSpc>
                <a:spcPct val="107916"/>
              </a:lnSpc>
              <a:spcBef>
                <a:spcPts val="800"/>
              </a:spcBef>
              <a:spcAft>
                <a:spcPts val="0"/>
              </a:spcAft>
              <a:buClr>
                <a:srgbClr val="000000"/>
              </a:buClr>
              <a:buSzPts val="1100"/>
              <a:buFont typeface="Arial"/>
              <a:buNone/>
            </a:pPr>
            <a:r>
              <a:t/>
            </a:r>
            <a:endParaRPr b="0" i="1" sz="1000" u="none" cap="none" strike="noStrike">
              <a:solidFill>
                <a:srgbClr val="548DD4"/>
              </a:solidFill>
              <a:latin typeface="Calibri"/>
              <a:ea typeface="Calibri"/>
              <a:cs typeface="Calibri"/>
              <a:sym typeface="Calibri"/>
            </a:endParaRPr>
          </a:p>
          <a:p>
            <a:pPr indent="0" lvl="0" marL="0" marR="0" rtl="0" algn="just">
              <a:lnSpc>
                <a:spcPct val="107916"/>
              </a:lnSpc>
              <a:spcBef>
                <a:spcPts val="800"/>
              </a:spcBef>
              <a:spcAft>
                <a:spcPts val="800"/>
              </a:spcAft>
              <a:buClr>
                <a:schemeClr val="dk1"/>
              </a:buClr>
              <a:buSzPts val="1100"/>
              <a:buFont typeface="Arial"/>
              <a:buNone/>
            </a:pPr>
            <a:r>
              <a:rPr b="0" i="1" lang="es-ES" sz="1800" u="none" cap="none" strike="noStrike">
                <a:solidFill>
                  <a:schemeClr val="lt1"/>
                </a:solidFill>
                <a:latin typeface="Calibri"/>
                <a:ea typeface="Calibri"/>
                <a:cs typeface="Calibri"/>
                <a:sym typeface="Calibri"/>
              </a:rPr>
              <a:t>Desarrollar un sistema informático que permita gestionar eficientemente los procesos asociados al saldo insoluto de beneficiarios fallecidos, integrando la carga y almacenamiento de documentación, la validación de firmas electrónicas y el acceso controlado por parte de funcionarios y jefes de sucursales y/o jefe de plataforma .</a:t>
            </a:r>
            <a:endParaRPr b="0" i="0" sz="1600" u="none" cap="none" strike="noStrike">
              <a:solidFill>
                <a:schemeClr val="lt1"/>
              </a:solidFill>
              <a:latin typeface="Gill Sans"/>
              <a:ea typeface="Gill Sans"/>
              <a:cs typeface="Gill Sans"/>
              <a:sym typeface="Gill Sans"/>
            </a:endParaRPr>
          </a:p>
        </p:txBody>
      </p:sp>
      <p:sp>
        <p:nvSpPr>
          <p:cNvPr id="148" name="Google Shape;148;p4"/>
          <p:cNvSpPr txBox="1"/>
          <p:nvPr>
            <p:ph type="title"/>
          </p:nvPr>
        </p:nvSpPr>
        <p:spPr>
          <a:xfrm>
            <a:off x="1781025" y="218581"/>
            <a:ext cx="7213500" cy="1122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2800"/>
              <a:buFont typeface="Gill Sans"/>
              <a:buNone/>
            </a:pPr>
            <a:r>
              <a:rPr lang="es-ES"/>
              <a:t>OBJETIVOS DEL PROYECTO</a:t>
            </a:r>
            <a:endParaRPr/>
          </a:p>
        </p:txBody>
      </p:sp>
      <p:grpSp>
        <p:nvGrpSpPr>
          <p:cNvPr id="149" name="Google Shape;149;p4"/>
          <p:cNvGrpSpPr/>
          <p:nvPr/>
        </p:nvGrpSpPr>
        <p:grpSpPr>
          <a:xfrm>
            <a:off x="6724162" y="1527041"/>
            <a:ext cx="5184447" cy="4802134"/>
            <a:chOff x="438067" y="457200"/>
            <a:chExt cx="7506963" cy="5935267"/>
          </a:xfrm>
        </p:grpSpPr>
        <p:sp>
          <p:nvSpPr>
            <p:cNvPr id="150" name="Google Shape;150;p4"/>
            <p:cNvSpPr/>
            <p:nvPr/>
          </p:nvSpPr>
          <p:spPr>
            <a:xfrm>
              <a:off x="438067" y="618067"/>
              <a:ext cx="7503600" cy="5774400"/>
            </a:xfrm>
            <a:prstGeom prst="rect">
              <a:avLst/>
            </a:prstGeom>
            <a:solidFill>
              <a:schemeClr val="accent1">
                <a:alpha val="96470"/>
              </a:schemeClr>
            </a:solidFill>
            <a:ln>
              <a:noFill/>
            </a:ln>
          </p:spPr>
          <p:txBody>
            <a:bodyPr anchorCtr="0" anchor="t" bIns="25225" lIns="50425" spcFirstLastPara="1" rIns="50425" wrap="square" tIns="25225">
              <a:noAutofit/>
            </a:bodyPr>
            <a:lstStyle/>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p:txBody>
        </p:sp>
        <p:sp>
          <p:nvSpPr>
            <p:cNvPr id="151" name="Google Shape;151;p4"/>
            <p:cNvSpPr/>
            <p:nvPr/>
          </p:nvSpPr>
          <p:spPr>
            <a:xfrm>
              <a:off x="438068" y="457200"/>
              <a:ext cx="3703200" cy="95100"/>
            </a:xfrm>
            <a:prstGeom prst="rect">
              <a:avLst/>
            </a:prstGeom>
            <a:solidFill>
              <a:schemeClr val="accent1"/>
            </a:solidFill>
            <a:ln>
              <a:noFill/>
            </a:ln>
          </p:spPr>
          <p:txBody>
            <a:bodyPr anchorCtr="0" anchor="t" bIns="25225" lIns="50425" spcFirstLastPara="1" rIns="50425" wrap="square" tIns="25225">
              <a:noAutofit/>
            </a:bodyPr>
            <a:lstStyle/>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p:txBody>
        </p:sp>
        <p:sp>
          <p:nvSpPr>
            <p:cNvPr id="152" name="Google Shape;152;p4"/>
            <p:cNvSpPr/>
            <p:nvPr/>
          </p:nvSpPr>
          <p:spPr>
            <a:xfrm>
              <a:off x="4241830" y="457200"/>
              <a:ext cx="3703200" cy="91500"/>
            </a:xfrm>
            <a:prstGeom prst="rect">
              <a:avLst/>
            </a:prstGeom>
            <a:solidFill>
              <a:schemeClr val="accent2"/>
            </a:solidFill>
            <a:ln>
              <a:noFill/>
            </a:ln>
          </p:spPr>
          <p:txBody>
            <a:bodyPr anchorCtr="0" anchor="t" bIns="25225" lIns="50425" spcFirstLastPara="1" rIns="50425" wrap="square" tIns="25225">
              <a:noAutofit/>
            </a:bodyPr>
            <a:lstStyle/>
            <a:p>
              <a:pPr indent="0" lvl="0" marL="0" marR="0" rtl="0" algn="l">
                <a:lnSpc>
                  <a:spcPct val="100000"/>
                </a:lnSpc>
                <a:spcBef>
                  <a:spcPts val="0"/>
                </a:spcBef>
                <a:spcAft>
                  <a:spcPts val="0"/>
                </a:spcAft>
                <a:buClr>
                  <a:srgbClr val="000000"/>
                </a:buClr>
                <a:buSzPts val="993"/>
                <a:buFont typeface="Arial"/>
                <a:buNone/>
              </a:pPr>
              <a:r>
                <a:t/>
              </a:r>
              <a:endParaRPr b="0" i="0" sz="993" u="none" cap="none" strike="noStrike">
                <a:solidFill>
                  <a:schemeClr val="lt1"/>
                </a:solidFill>
                <a:latin typeface="Gill Sans"/>
                <a:ea typeface="Gill Sans"/>
                <a:cs typeface="Gill Sans"/>
                <a:sym typeface="Gill Sans"/>
              </a:endParaRPr>
            </a:p>
          </p:txBody>
        </p:sp>
      </p:grpSp>
      <p:sp>
        <p:nvSpPr>
          <p:cNvPr id="153" name="Google Shape;153;p4"/>
          <p:cNvSpPr txBox="1"/>
          <p:nvPr/>
        </p:nvSpPr>
        <p:spPr>
          <a:xfrm>
            <a:off x="7963249" y="1906167"/>
            <a:ext cx="2526900" cy="47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Gill Sans"/>
                <a:ea typeface="Gill Sans"/>
                <a:cs typeface="Gill Sans"/>
                <a:sym typeface="Gill Sans"/>
              </a:rPr>
              <a:t>Objetivo específico. </a:t>
            </a:r>
            <a:endParaRPr b="1" i="0" sz="1800" u="none" cap="none" strike="noStrike">
              <a:solidFill>
                <a:schemeClr val="lt1"/>
              </a:solidFill>
              <a:latin typeface="Gill Sans"/>
              <a:ea typeface="Gill Sans"/>
              <a:cs typeface="Gill Sans"/>
              <a:sym typeface="Gill Sans"/>
            </a:endParaRPr>
          </a:p>
        </p:txBody>
      </p:sp>
      <p:sp>
        <p:nvSpPr>
          <p:cNvPr id="154" name="Google Shape;154;p4"/>
          <p:cNvSpPr txBox="1"/>
          <p:nvPr/>
        </p:nvSpPr>
        <p:spPr>
          <a:xfrm>
            <a:off x="1455758" y="1428504"/>
            <a:ext cx="2526900" cy="47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Gill Sans"/>
                <a:ea typeface="Gill Sans"/>
                <a:cs typeface="Gill Sans"/>
                <a:sym typeface="Gill Sans"/>
              </a:rPr>
              <a:t>Objetivo General.</a:t>
            </a:r>
            <a:endParaRPr b="1" i="0" sz="1800" u="none" cap="none" strike="noStrike">
              <a:solidFill>
                <a:schemeClr val="lt1"/>
              </a:solidFill>
              <a:latin typeface="Gill Sans"/>
              <a:ea typeface="Gill Sans"/>
              <a:cs typeface="Gill Sans"/>
              <a:sym typeface="Gill Sans"/>
            </a:endParaRPr>
          </a:p>
        </p:txBody>
      </p:sp>
      <p:sp>
        <p:nvSpPr>
          <p:cNvPr id="155" name="Google Shape;155;p4"/>
          <p:cNvSpPr txBox="1"/>
          <p:nvPr/>
        </p:nvSpPr>
        <p:spPr>
          <a:xfrm>
            <a:off x="6607278" y="2517058"/>
            <a:ext cx="5065444" cy="3451123"/>
          </a:xfrm>
          <a:prstGeom prst="rect">
            <a:avLst/>
          </a:prstGeom>
          <a:noFill/>
          <a:ln>
            <a:noFill/>
          </a:ln>
        </p:spPr>
        <p:txBody>
          <a:bodyPr anchorCtr="0" anchor="t" bIns="91425" lIns="91425" spcFirstLastPara="1" rIns="91425" wrap="square" tIns="91425">
            <a:noAutofit/>
          </a:bodyPr>
          <a:lstStyle/>
          <a:p>
            <a:pPr indent="-292100" lvl="0" marL="457200" marR="0" rtl="0" algn="just">
              <a:lnSpc>
                <a:spcPct val="107916"/>
              </a:lnSpc>
              <a:spcBef>
                <a:spcPts val="0"/>
              </a:spcBef>
              <a:spcAft>
                <a:spcPts val="0"/>
              </a:spcAft>
              <a:buClr>
                <a:schemeClr val="lt1"/>
              </a:buClr>
              <a:buSzPts val="1000"/>
              <a:buFont typeface="Calibri"/>
              <a:buChar char="●"/>
            </a:pPr>
            <a:r>
              <a:rPr b="0" i="1" lang="es-ES" sz="1600" u="none" cap="none" strike="noStrike">
                <a:solidFill>
                  <a:schemeClr val="lt1"/>
                </a:solidFill>
                <a:latin typeface="Calibri"/>
                <a:ea typeface="Calibri"/>
                <a:cs typeface="Calibri"/>
                <a:sym typeface="Calibri"/>
              </a:rPr>
              <a:t>Diseñar una base de datos para gestionar causantes, herederos y documentación.</a:t>
            </a:r>
            <a:br>
              <a:rPr b="0" i="1" lang="es-ES" sz="1600" u="none" cap="none" strike="noStrike">
                <a:solidFill>
                  <a:schemeClr val="lt1"/>
                </a:solidFill>
                <a:latin typeface="Calibri"/>
                <a:ea typeface="Calibri"/>
                <a:cs typeface="Calibri"/>
                <a:sym typeface="Calibri"/>
              </a:rPr>
            </a:br>
            <a:endParaRPr b="0" i="1" sz="1600" u="none" cap="none" strike="noStrike">
              <a:solidFill>
                <a:schemeClr val="lt1"/>
              </a:solidFill>
              <a:latin typeface="Calibri"/>
              <a:ea typeface="Calibri"/>
              <a:cs typeface="Calibri"/>
              <a:sym typeface="Calibri"/>
            </a:endParaRPr>
          </a:p>
          <a:p>
            <a:pPr indent="-292100" lvl="0" marL="457200" marR="0" rtl="0" algn="just">
              <a:lnSpc>
                <a:spcPct val="107916"/>
              </a:lnSpc>
              <a:spcBef>
                <a:spcPts val="0"/>
              </a:spcBef>
              <a:spcAft>
                <a:spcPts val="0"/>
              </a:spcAft>
              <a:buClr>
                <a:schemeClr val="lt1"/>
              </a:buClr>
              <a:buSzPts val="1000"/>
              <a:buFont typeface="Calibri"/>
              <a:buChar char="●"/>
            </a:pPr>
            <a:r>
              <a:rPr b="0" i="1" lang="es-ES" sz="1600" u="none" cap="none" strike="noStrike">
                <a:solidFill>
                  <a:schemeClr val="lt1"/>
                </a:solidFill>
                <a:latin typeface="Calibri"/>
                <a:ea typeface="Calibri"/>
                <a:cs typeface="Calibri"/>
                <a:sym typeface="Calibri"/>
              </a:rPr>
              <a:t>Implementar una interfaz web para solicitudes, carga de documentos y firmas digitales.</a:t>
            </a:r>
            <a:br>
              <a:rPr b="0" i="1" lang="es-ES" sz="1600" u="none" cap="none" strike="noStrike">
                <a:solidFill>
                  <a:schemeClr val="lt1"/>
                </a:solidFill>
                <a:latin typeface="Calibri"/>
                <a:ea typeface="Calibri"/>
                <a:cs typeface="Calibri"/>
                <a:sym typeface="Calibri"/>
              </a:rPr>
            </a:br>
            <a:endParaRPr b="0" i="1" sz="1600" u="none" cap="none" strike="noStrike">
              <a:solidFill>
                <a:schemeClr val="lt1"/>
              </a:solidFill>
              <a:latin typeface="Calibri"/>
              <a:ea typeface="Calibri"/>
              <a:cs typeface="Calibri"/>
              <a:sym typeface="Calibri"/>
            </a:endParaRPr>
          </a:p>
          <a:p>
            <a:pPr indent="-292100" lvl="0" marL="457200" marR="0" rtl="0" algn="just">
              <a:lnSpc>
                <a:spcPct val="107916"/>
              </a:lnSpc>
              <a:spcBef>
                <a:spcPts val="0"/>
              </a:spcBef>
              <a:spcAft>
                <a:spcPts val="0"/>
              </a:spcAft>
              <a:buClr>
                <a:schemeClr val="lt1"/>
              </a:buClr>
              <a:buSzPts val="1000"/>
              <a:buFont typeface="Calibri"/>
              <a:buChar char="●"/>
            </a:pPr>
            <a:r>
              <a:rPr b="0" i="1" lang="es-ES" sz="1600" u="none" cap="none" strike="noStrike">
                <a:solidFill>
                  <a:schemeClr val="lt1"/>
                </a:solidFill>
                <a:latin typeface="Calibri"/>
                <a:ea typeface="Calibri"/>
                <a:cs typeface="Calibri"/>
                <a:sym typeface="Calibri"/>
              </a:rPr>
              <a:t>Crear un módulo de aprobación de saldos insolutos para jefaturas.</a:t>
            </a:r>
            <a:br>
              <a:rPr b="0" i="1" lang="es-ES" sz="1600" u="none" cap="none" strike="noStrike">
                <a:solidFill>
                  <a:schemeClr val="lt1"/>
                </a:solidFill>
                <a:latin typeface="Calibri"/>
                <a:ea typeface="Calibri"/>
                <a:cs typeface="Calibri"/>
                <a:sym typeface="Calibri"/>
              </a:rPr>
            </a:br>
            <a:endParaRPr b="0" i="1" sz="1600" u="none" cap="none" strike="noStrike">
              <a:solidFill>
                <a:schemeClr val="lt1"/>
              </a:solidFill>
              <a:latin typeface="Calibri"/>
              <a:ea typeface="Calibri"/>
              <a:cs typeface="Calibri"/>
              <a:sym typeface="Calibri"/>
            </a:endParaRPr>
          </a:p>
          <a:p>
            <a:pPr indent="-292100" lvl="0" marL="457200" marR="0" rtl="0" algn="just">
              <a:lnSpc>
                <a:spcPct val="107916"/>
              </a:lnSpc>
              <a:spcBef>
                <a:spcPts val="0"/>
              </a:spcBef>
              <a:spcAft>
                <a:spcPts val="0"/>
              </a:spcAft>
              <a:buClr>
                <a:schemeClr val="lt1"/>
              </a:buClr>
              <a:buSzPts val="1000"/>
              <a:buFont typeface="Calibri"/>
              <a:buChar char="●"/>
            </a:pPr>
            <a:r>
              <a:rPr b="0" i="1" lang="es-ES" sz="1600" u="none" cap="none" strike="noStrike">
                <a:solidFill>
                  <a:schemeClr val="lt1"/>
                </a:solidFill>
                <a:latin typeface="Calibri"/>
                <a:ea typeface="Calibri"/>
                <a:cs typeface="Calibri"/>
                <a:sym typeface="Calibri"/>
              </a:rPr>
              <a:t>Integrar modulo de firma con software externo</a:t>
            </a:r>
            <a:br>
              <a:rPr b="0" i="1" lang="es-ES" sz="1600" u="none" cap="none" strike="noStrike">
                <a:solidFill>
                  <a:schemeClr val="lt1"/>
                </a:solidFill>
                <a:latin typeface="Calibri"/>
                <a:ea typeface="Calibri"/>
                <a:cs typeface="Calibri"/>
                <a:sym typeface="Calibri"/>
              </a:rPr>
            </a:br>
            <a:endParaRPr b="0" i="1" sz="1600" u="none" cap="none" strike="noStrike">
              <a:solidFill>
                <a:schemeClr val="lt1"/>
              </a:solidFill>
              <a:latin typeface="Calibri"/>
              <a:ea typeface="Calibri"/>
              <a:cs typeface="Calibri"/>
              <a:sym typeface="Calibri"/>
            </a:endParaRPr>
          </a:p>
          <a:p>
            <a:pPr indent="-292100" lvl="0" marL="457200" marR="0" rtl="0" algn="just">
              <a:lnSpc>
                <a:spcPct val="107916"/>
              </a:lnSpc>
              <a:spcBef>
                <a:spcPts val="0"/>
              </a:spcBef>
              <a:spcAft>
                <a:spcPts val="0"/>
              </a:spcAft>
              <a:buClr>
                <a:schemeClr val="lt1"/>
              </a:buClr>
              <a:buSzPts val="1000"/>
              <a:buFont typeface="Calibri"/>
              <a:buChar char="●"/>
            </a:pPr>
            <a:r>
              <a:rPr b="0" i="1" lang="es-ES" sz="1600" u="none" cap="none" strike="noStrike">
                <a:solidFill>
                  <a:schemeClr val="lt1"/>
                </a:solidFill>
                <a:latin typeface="Calibri"/>
                <a:ea typeface="Calibri"/>
                <a:cs typeface="Calibri"/>
                <a:sym typeface="Calibri"/>
              </a:rPr>
              <a:t>Establecer protocolos de validación y control de acceso para garantizar seguridad y trazabilidad.</a:t>
            </a:r>
            <a:endParaRPr b="0" i="1" sz="1600" u="none" cap="none" strike="noStrike">
              <a:solidFill>
                <a:schemeClr val="lt1"/>
              </a:solidFill>
              <a:latin typeface="Calibri"/>
              <a:ea typeface="Calibri"/>
              <a:cs typeface="Calibri"/>
              <a:sym typeface="Calibri"/>
            </a:endParaRPr>
          </a:p>
          <a:p>
            <a:pPr indent="0" lvl="0" marL="457200" marR="0" rtl="0" algn="just">
              <a:lnSpc>
                <a:spcPct val="107916"/>
              </a:lnSpc>
              <a:spcBef>
                <a:spcPts val="800"/>
              </a:spcBef>
              <a:spcAft>
                <a:spcPts val="0"/>
              </a:spcAft>
              <a:buClr>
                <a:srgbClr val="000000"/>
              </a:buClr>
              <a:buSzPts val="1000"/>
              <a:buFont typeface="Arial"/>
              <a:buNone/>
            </a:pPr>
            <a:r>
              <a:t/>
            </a:r>
            <a:endParaRPr b="0" i="1" sz="1000" u="none" cap="none" strike="noStrike">
              <a:solidFill>
                <a:srgbClr val="548DD4"/>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000"/>
              <a:buFont typeface="Arial"/>
              <a:buNone/>
            </a:pPr>
            <a:r>
              <a:t/>
            </a:r>
            <a:endParaRPr b="0" i="0" sz="1000" u="none" cap="none" strike="noStrike">
              <a:solidFill>
                <a:schemeClr val="dk2"/>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ALCANCE DEL PROYECTO</a:t>
            </a:r>
            <a:endParaRPr/>
          </a:p>
        </p:txBody>
      </p:sp>
      <p:grpSp>
        <p:nvGrpSpPr>
          <p:cNvPr id="161" name="Google Shape;161;p5"/>
          <p:cNvGrpSpPr/>
          <p:nvPr/>
        </p:nvGrpSpPr>
        <p:grpSpPr>
          <a:xfrm>
            <a:off x="1258266" y="3953925"/>
            <a:ext cx="4485497" cy="899227"/>
            <a:chOff x="943723" y="3783783"/>
            <a:chExt cx="3364207" cy="674437"/>
          </a:xfrm>
        </p:grpSpPr>
        <p:sp>
          <p:nvSpPr>
            <p:cNvPr id="162" name="Google Shape;162;p5"/>
            <p:cNvSpPr/>
            <p:nvPr/>
          </p:nvSpPr>
          <p:spPr>
            <a:xfrm>
              <a:off x="943730" y="3783783"/>
              <a:ext cx="3364200" cy="674400"/>
            </a:xfrm>
            <a:prstGeom prst="rect">
              <a:avLst/>
            </a:prstGeom>
            <a:solidFill>
              <a:srgbClr val="0C57D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a:off x="1632122" y="3783788"/>
              <a:ext cx="674400" cy="674400"/>
            </a:xfrm>
            <a:prstGeom prst="rtTriangle">
              <a:avLst/>
            </a:prstGeom>
            <a:solidFill>
              <a:srgbClr val="0E63F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a:off x="943723" y="3783788"/>
              <a:ext cx="687600" cy="674400"/>
            </a:xfrm>
            <a:prstGeom prst="rtTriangle">
              <a:avLst/>
            </a:prstGeom>
            <a:solidFill>
              <a:srgbClr val="307A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5"/>
            <p:cNvSpPr/>
            <p:nvPr/>
          </p:nvSpPr>
          <p:spPr>
            <a:xfrm>
              <a:off x="1210848" y="3783832"/>
              <a:ext cx="425700" cy="409200"/>
            </a:xfrm>
            <a:prstGeom prst="rect">
              <a:avLst/>
            </a:prstGeom>
            <a:noFill/>
            <a:ln>
              <a:noFill/>
            </a:ln>
          </p:spPr>
          <p:txBody>
            <a:bodyPr anchorCtr="0" anchor="b"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100"/>
                <a:buFont typeface="Arial"/>
                <a:buNone/>
              </a:pPr>
              <a:r>
                <a:rPr b="0" i="0" lang="es-ES" sz="2100" u="none" cap="none" strike="noStrike">
                  <a:solidFill>
                    <a:srgbClr val="FFFFFF"/>
                  </a:solidFill>
                  <a:latin typeface="Roboto"/>
                  <a:ea typeface="Roboto"/>
                  <a:cs typeface="Roboto"/>
                  <a:sym typeface="Roboto"/>
                </a:rPr>
                <a:t>2</a:t>
              </a:r>
              <a:endParaRPr b="0" i="0" sz="2100" u="none" cap="none" strike="noStrike">
                <a:solidFill>
                  <a:srgbClr val="FFFFFF"/>
                </a:solidFill>
                <a:latin typeface="Roboto"/>
                <a:ea typeface="Roboto"/>
                <a:cs typeface="Roboto"/>
                <a:sym typeface="Roboto"/>
              </a:endParaRPr>
            </a:p>
          </p:txBody>
        </p:sp>
        <p:sp>
          <p:nvSpPr>
            <p:cNvPr id="166" name="Google Shape;166;p5"/>
            <p:cNvSpPr/>
            <p:nvPr/>
          </p:nvSpPr>
          <p:spPr>
            <a:xfrm>
              <a:off x="1704712" y="3783820"/>
              <a:ext cx="2602200" cy="674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0" i="0" lang="es-ES" sz="1300" u="none" cap="none" strike="noStrike">
                  <a:solidFill>
                    <a:srgbClr val="FFFFFF"/>
                  </a:solidFill>
                  <a:latin typeface="Roboto"/>
                  <a:ea typeface="Roboto"/>
                  <a:cs typeface="Roboto"/>
                  <a:sym typeface="Roboto"/>
                </a:rPr>
                <a:t>Digitalización de expedientes y eliminación del uso de papel.</a:t>
              </a:r>
              <a:endParaRPr b="0" i="0" sz="1300" u="none" cap="none" strike="noStrike">
                <a:solidFill>
                  <a:srgbClr val="FFFFFF"/>
                </a:solidFill>
                <a:latin typeface="Roboto"/>
                <a:ea typeface="Roboto"/>
                <a:cs typeface="Roboto"/>
                <a:sym typeface="Roboto"/>
              </a:endParaRPr>
            </a:p>
          </p:txBody>
        </p:sp>
      </p:grpSp>
      <p:grpSp>
        <p:nvGrpSpPr>
          <p:cNvPr id="167" name="Google Shape;167;p5"/>
          <p:cNvGrpSpPr/>
          <p:nvPr/>
        </p:nvGrpSpPr>
        <p:grpSpPr>
          <a:xfrm>
            <a:off x="1258266" y="4867600"/>
            <a:ext cx="4485497" cy="899236"/>
            <a:chOff x="943723" y="4469056"/>
            <a:chExt cx="3364207" cy="674444"/>
          </a:xfrm>
        </p:grpSpPr>
        <p:sp>
          <p:nvSpPr>
            <p:cNvPr id="168" name="Google Shape;168;p5"/>
            <p:cNvSpPr/>
            <p:nvPr/>
          </p:nvSpPr>
          <p:spPr>
            <a:xfrm>
              <a:off x="943730" y="4469056"/>
              <a:ext cx="3364200" cy="674400"/>
            </a:xfrm>
            <a:prstGeom prst="rect">
              <a:avLst/>
            </a:prstGeom>
            <a:solidFill>
              <a:srgbClr val="0C57D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5"/>
            <p:cNvSpPr/>
            <p:nvPr/>
          </p:nvSpPr>
          <p:spPr>
            <a:xfrm>
              <a:off x="1632122" y="4469063"/>
              <a:ext cx="674400" cy="674400"/>
            </a:xfrm>
            <a:prstGeom prst="rtTriangle">
              <a:avLst/>
            </a:prstGeom>
            <a:solidFill>
              <a:srgbClr val="0E63F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a:off x="943723" y="4469063"/>
              <a:ext cx="687600" cy="674400"/>
            </a:xfrm>
            <a:prstGeom prst="rtTriangle">
              <a:avLst/>
            </a:prstGeom>
            <a:solidFill>
              <a:srgbClr val="307A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5"/>
            <p:cNvSpPr/>
            <p:nvPr/>
          </p:nvSpPr>
          <p:spPr>
            <a:xfrm>
              <a:off x="1210848" y="4469107"/>
              <a:ext cx="425700" cy="409200"/>
            </a:xfrm>
            <a:prstGeom prst="rect">
              <a:avLst/>
            </a:prstGeom>
            <a:noFill/>
            <a:ln>
              <a:noFill/>
            </a:ln>
          </p:spPr>
          <p:txBody>
            <a:bodyPr anchorCtr="0" anchor="b"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100"/>
                <a:buFont typeface="Arial"/>
                <a:buNone/>
              </a:pPr>
              <a:r>
                <a:rPr b="0" i="0" lang="es-ES" sz="2100" u="none" cap="none" strike="noStrike">
                  <a:solidFill>
                    <a:srgbClr val="FFFFFF"/>
                  </a:solidFill>
                  <a:latin typeface="Roboto"/>
                  <a:ea typeface="Roboto"/>
                  <a:cs typeface="Roboto"/>
                  <a:sym typeface="Roboto"/>
                </a:rPr>
                <a:t>3</a:t>
              </a:r>
              <a:endParaRPr b="0" i="0" sz="2100" u="none" cap="none" strike="noStrike">
                <a:solidFill>
                  <a:srgbClr val="FFFFFF"/>
                </a:solidFill>
                <a:latin typeface="Roboto"/>
                <a:ea typeface="Roboto"/>
                <a:cs typeface="Roboto"/>
                <a:sym typeface="Roboto"/>
              </a:endParaRPr>
            </a:p>
          </p:txBody>
        </p:sp>
        <p:sp>
          <p:nvSpPr>
            <p:cNvPr id="172" name="Google Shape;172;p5"/>
            <p:cNvSpPr/>
            <p:nvPr/>
          </p:nvSpPr>
          <p:spPr>
            <a:xfrm>
              <a:off x="1704725" y="4469100"/>
              <a:ext cx="1488600" cy="674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0" i="0" lang="es-ES" sz="1300" u="none" cap="none" strike="noStrike">
                  <a:solidFill>
                    <a:srgbClr val="FFFFFF"/>
                  </a:solidFill>
                  <a:latin typeface="Roboto"/>
                  <a:ea typeface="Roboto"/>
                  <a:cs typeface="Roboto"/>
                  <a:sym typeface="Roboto"/>
                </a:rPr>
                <a:t>Validación y firma electrónica de documentos.</a:t>
              </a:r>
              <a:endParaRPr b="0" i="0" sz="1300" u="none" cap="none" strike="noStrike">
                <a:solidFill>
                  <a:srgbClr val="FFFFFF"/>
                </a:solidFill>
                <a:latin typeface="Roboto"/>
                <a:ea typeface="Roboto"/>
                <a:cs typeface="Roboto"/>
                <a:sym typeface="Roboto"/>
              </a:endParaRPr>
            </a:p>
          </p:txBody>
        </p:sp>
      </p:grpSp>
      <p:grpSp>
        <p:nvGrpSpPr>
          <p:cNvPr id="173" name="Google Shape;173;p5"/>
          <p:cNvGrpSpPr/>
          <p:nvPr/>
        </p:nvGrpSpPr>
        <p:grpSpPr>
          <a:xfrm>
            <a:off x="1258266" y="3040250"/>
            <a:ext cx="4485497" cy="899228"/>
            <a:chOff x="943723" y="3098509"/>
            <a:chExt cx="3364207" cy="674438"/>
          </a:xfrm>
        </p:grpSpPr>
        <p:sp>
          <p:nvSpPr>
            <p:cNvPr id="174" name="Google Shape;174;p5"/>
            <p:cNvSpPr/>
            <p:nvPr/>
          </p:nvSpPr>
          <p:spPr>
            <a:xfrm>
              <a:off x="943730" y="3098509"/>
              <a:ext cx="3364200" cy="674400"/>
            </a:xfrm>
            <a:prstGeom prst="rect">
              <a:avLst/>
            </a:prstGeom>
            <a:solidFill>
              <a:srgbClr val="0C57D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
            <p:cNvSpPr/>
            <p:nvPr/>
          </p:nvSpPr>
          <p:spPr>
            <a:xfrm>
              <a:off x="1632122" y="3098513"/>
              <a:ext cx="674400" cy="674400"/>
            </a:xfrm>
            <a:prstGeom prst="rtTriangle">
              <a:avLst/>
            </a:prstGeom>
            <a:solidFill>
              <a:srgbClr val="0E63F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5"/>
            <p:cNvSpPr/>
            <p:nvPr/>
          </p:nvSpPr>
          <p:spPr>
            <a:xfrm>
              <a:off x="943723" y="3098513"/>
              <a:ext cx="687600" cy="674400"/>
            </a:xfrm>
            <a:prstGeom prst="rtTriangle">
              <a:avLst/>
            </a:prstGeom>
            <a:solidFill>
              <a:srgbClr val="307A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5"/>
            <p:cNvSpPr/>
            <p:nvPr/>
          </p:nvSpPr>
          <p:spPr>
            <a:xfrm>
              <a:off x="1210848" y="3098557"/>
              <a:ext cx="425700" cy="409200"/>
            </a:xfrm>
            <a:prstGeom prst="rect">
              <a:avLst/>
            </a:prstGeom>
            <a:noFill/>
            <a:ln>
              <a:noFill/>
            </a:ln>
          </p:spPr>
          <p:txBody>
            <a:bodyPr anchorCtr="0" anchor="b"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100"/>
                <a:buFont typeface="Arial"/>
                <a:buNone/>
              </a:pPr>
              <a:r>
                <a:rPr b="0" i="0" lang="es-ES" sz="2100" u="none" cap="none" strike="noStrike">
                  <a:solidFill>
                    <a:srgbClr val="FFFFFF"/>
                  </a:solidFill>
                  <a:latin typeface="Roboto"/>
                  <a:ea typeface="Roboto"/>
                  <a:cs typeface="Roboto"/>
                  <a:sym typeface="Roboto"/>
                </a:rPr>
                <a:t>1</a:t>
              </a:r>
              <a:endParaRPr b="0" i="0" sz="2100" u="none" cap="none" strike="noStrike">
                <a:solidFill>
                  <a:srgbClr val="FFFFFF"/>
                </a:solidFill>
                <a:latin typeface="Roboto"/>
                <a:ea typeface="Roboto"/>
                <a:cs typeface="Roboto"/>
                <a:sym typeface="Roboto"/>
              </a:endParaRPr>
            </a:p>
          </p:txBody>
        </p:sp>
        <p:sp>
          <p:nvSpPr>
            <p:cNvPr id="178" name="Google Shape;178;p5"/>
            <p:cNvSpPr/>
            <p:nvPr/>
          </p:nvSpPr>
          <p:spPr>
            <a:xfrm>
              <a:off x="1704712" y="3098547"/>
              <a:ext cx="2538600" cy="674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0" i="0" lang="es-ES" sz="1300" u="none" cap="none" strike="noStrike">
                  <a:solidFill>
                    <a:srgbClr val="FFFFFF"/>
                  </a:solidFill>
                  <a:latin typeface="Roboto"/>
                  <a:ea typeface="Roboto"/>
                  <a:cs typeface="Roboto"/>
                  <a:sym typeface="Roboto"/>
                </a:rPr>
                <a:t>Desarrollo de un prototipo funcional de gestión de saldos insolutos.</a:t>
              </a:r>
              <a:endParaRPr b="0" i="0" sz="1300" u="none" cap="none" strike="noStrike">
                <a:solidFill>
                  <a:srgbClr val="FFFFFF"/>
                </a:solidFill>
                <a:latin typeface="Roboto"/>
                <a:ea typeface="Roboto"/>
                <a:cs typeface="Roboto"/>
                <a:sym typeface="Roboto"/>
              </a:endParaRPr>
            </a:p>
          </p:txBody>
        </p:sp>
      </p:grpSp>
      <p:grpSp>
        <p:nvGrpSpPr>
          <p:cNvPr id="179" name="Google Shape;179;p5"/>
          <p:cNvGrpSpPr/>
          <p:nvPr/>
        </p:nvGrpSpPr>
        <p:grpSpPr>
          <a:xfrm>
            <a:off x="5743766" y="4867600"/>
            <a:ext cx="4485497" cy="899236"/>
            <a:chOff x="943723" y="4469056"/>
            <a:chExt cx="3364207" cy="674444"/>
          </a:xfrm>
        </p:grpSpPr>
        <p:sp>
          <p:nvSpPr>
            <p:cNvPr id="180" name="Google Shape;180;p5"/>
            <p:cNvSpPr/>
            <p:nvPr/>
          </p:nvSpPr>
          <p:spPr>
            <a:xfrm>
              <a:off x="943730" y="4469056"/>
              <a:ext cx="3364200" cy="674400"/>
            </a:xfrm>
            <a:prstGeom prst="rect">
              <a:avLst/>
            </a:prstGeom>
            <a:solidFill>
              <a:srgbClr val="0C57D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a:off x="1632122" y="4469063"/>
              <a:ext cx="674400" cy="674400"/>
            </a:xfrm>
            <a:prstGeom prst="rtTriangle">
              <a:avLst/>
            </a:prstGeom>
            <a:solidFill>
              <a:srgbClr val="0E63F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943723" y="4469063"/>
              <a:ext cx="687600" cy="674400"/>
            </a:xfrm>
            <a:prstGeom prst="rtTriangle">
              <a:avLst/>
            </a:prstGeom>
            <a:solidFill>
              <a:srgbClr val="307A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p:nvPr/>
          </p:nvSpPr>
          <p:spPr>
            <a:xfrm>
              <a:off x="1210848" y="4469107"/>
              <a:ext cx="425700" cy="409200"/>
            </a:xfrm>
            <a:prstGeom prst="rect">
              <a:avLst/>
            </a:prstGeom>
            <a:noFill/>
            <a:ln>
              <a:noFill/>
            </a:ln>
          </p:spPr>
          <p:txBody>
            <a:bodyPr anchorCtr="0" anchor="b"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100"/>
                <a:buFont typeface="Arial"/>
                <a:buNone/>
              </a:pPr>
              <a:r>
                <a:rPr b="0" i="0" lang="es-ES" sz="2100" u="none" cap="none" strike="noStrike">
                  <a:solidFill>
                    <a:srgbClr val="FFFFFF"/>
                  </a:solidFill>
                  <a:latin typeface="Roboto"/>
                  <a:ea typeface="Roboto"/>
                  <a:cs typeface="Roboto"/>
                  <a:sym typeface="Roboto"/>
                </a:rPr>
                <a:t>6</a:t>
              </a:r>
              <a:endParaRPr b="0" i="0" sz="2100" u="none" cap="none" strike="noStrike">
                <a:solidFill>
                  <a:srgbClr val="FFFFFF"/>
                </a:solidFill>
                <a:latin typeface="Roboto"/>
                <a:ea typeface="Roboto"/>
                <a:cs typeface="Roboto"/>
                <a:sym typeface="Roboto"/>
              </a:endParaRPr>
            </a:p>
          </p:txBody>
        </p:sp>
        <p:sp>
          <p:nvSpPr>
            <p:cNvPr id="184" name="Google Shape;184;p5"/>
            <p:cNvSpPr/>
            <p:nvPr/>
          </p:nvSpPr>
          <p:spPr>
            <a:xfrm>
              <a:off x="1704725" y="4469100"/>
              <a:ext cx="2538587" cy="674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0" i="0" lang="es-ES" sz="1300" u="none" cap="none" strike="noStrike">
                  <a:solidFill>
                    <a:srgbClr val="FFFFFF"/>
                  </a:solidFill>
                  <a:latin typeface="Roboto"/>
                  <a:ea typeface="Roboto"/>
                  <a:cs typeface="Roboto"/>
                  <a:sym typeface="Roboto"/>
                </a:rPr>
                <a:t>Limitación a software de prueba de firma para los saldos insolutos. </a:t>
              </a:r>
              <a:endParaRPr b="0" i="0" sz="1300" u="none" cap="none" strike="noStrike">
                <a:solidFill>
                  <a:srgbClr val="FFFFFF"/>
                </a:solidFill>
                <a:latin typeface="Roboto"/>
                <a:ea typeface="Roboto"/>
                <a:cs typeface="Roboto"/>
                <a:sym typeface="Roboto"/>
              </a:endParaRPr>
            </a:p>
          </p:txBody>
        </p:sp>
      </p:grpSp>
      <p:grpSp>
        <p:nvGrpSpPr>
          <p:cNvPr id="185" name="Google Shape;185;p5"/>
          <p:cNvGrpSpPr/>
          <p:nvPr/>
        </p:nvGrpSpPr>
        <p:grpSpPr>
          <a:xfrm>
            <a:off x="5743766" y="3054700"/>
            <a:ext cx="4485497" cy="899228"/>
            <a:chOff x="943723" y="3098509"/>
            <a:chExt cx="3364207" cy="674438"/>
          </a:xfrm>
        </p:grpSpPr>
        <p:sp>
          <p:nvSpPr>
            <p:cNvPr id="186" name="Google Shape;186;p5"/>
            <p:cNvSpPr/>
            <p:nvPr/>
          </p:nvSpPr>
          <p:spPr>
            <a:xfrm>
              <a:off x="943730" y="3098509"/>
              <a:ext cx="3364200" cy="674400"/>
            </a:xfrm>
            <a:prstGeom prst="rect">
              <a:avLst/>
            </a:prstGeom>
            <a:solidFill>
              <a:srgbClr val="0C57D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5"/>
            <p:cNvSpPr/>
            <p:nvPr/>
          </p:nvSpPr>
          <p:spPr>
            <a:xfrm>
              <a:off x="1632122" y="3098513"/>
              <a:ext cx="674400" cy="674400"/>
            </a:xfrm>
            <a:prstGeom prst="rtTriangle">
              <a:avLst/>
            </a:prstGeom>
            <a:solidFill>
              <a:srgbClr val="0E63F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
            <p:cNvSpPr/>
            <p:nvPr/>
          </p:nvSpPr>
          <p:spPr>
            <a:xfrm>
              <a:off x="943723" y="3098513"/>
              <a:ext cx="687600" cy="674400"/>
            </a:xfrm>
            <a:prstGeom prst="rtTriangle">
              <a:avLst/>
            </a:prstGeom>
            <a:solidFill>
              <a:srgbClr val="307A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5"/>
            <p:cNvSpPr/>
            <p:nvPr/>
          </p:nvSpPr>
          <p:spPr>
            <a:xfrm>
              <a:off x="1210848" y="3098557"/>
              <a:ext cx="425700" cy="409200"/>
            </a:xfrm>
            <a:prstGeom prst="rect">
              <a:avLst/>
            </a:prstGeom>
            <a:noFill/>
            <a:ln>
              <a:noFill/>
            </a:ln>
          </p:spPr>
          <p:txBody>
            <a:bodyPr anchorCtr="0" anchor="b"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100"/>
                <a:buFont typeface="Arial"/>
                <a:buNone/>
              </a:pPr>
              <a:r>
                <a:rPr b="0" i="0" lang="es-ES" sz="2100" u="none" cap="none" strike="noStrike">
                  <a:solidFill>
                    <a:srgbClr val="FFFFFF"/>
                  </a:solidFill>
                  <a:latin typeface="Roboto"/>
                  <a:ea typeface="Roboto"/>
                  <a:cs typeface="Roboto"/>
                  <a:sym typeface="Roboto"/>
                </a:rPr>
                <a:t>4</a:t>
              </a:r>
              <a:endParaRPr b="0" i="0" sz="2100" u="none" cap="none" strike="noStrike">
                <a:solidFill>
                  <a:srgbClr val="FFFFFF"/>
                </a:solidFill>
                <a:latin typeface="Roboto"/>
                <a:ea typeface="Roboto"/>
                <a:cs typeface="Roboto"/>
                <a:sym typeface="Roboto"/>
              </a:endParaRPr>
            </a:p>
          </p:txBody>
        </p:sp>
        <p:sp>
          <p:nvSpPr>
            <p:cNvPr id="190" name="Google Shape;190;p5"/>
            <p:cNvSpPr/>
            <p:nvPr/>
          </p:nvSpPr>
          <p:spPr>
            <a:xfrm>
              <a:off x="1704712" y="3098547"/>
              <a:ext cx="2538600" cy="674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0" i="0" lang="es-ES" sz="1300" u="none" cap="none" strike="noStrike">
                  <a:solidFill>
                    <a:srgbClr val="FFFFFF"/>
                  </a:solidFill>
                  <a:latin typeface="Roboto"/>
                  <a:ea typeface="Roboto"/>
                  <a:cs typeface="Roboto"/>
                  <a:sym typeface="Roboto"/>
                </a:rPr>
                <a:t>Perfiles de usuario: Funcionario de sucursal y Administrador/Jefe de plataforma.</a:t>
              </a:r>
              <a:endParaRPr b="0" i="0" sz="1300" u="none" cap="none" strike="noStrike">
                <a:solidFill>
                  <a:srgbClr val="FFFFFF"/>
                </a:solidFill>
                <a:latin typeface="Roboto"/>
                <a:ea typeface="Roboto"/>
                <a:cs typeface="Roboto"/>
                <a:sym typeface="Roboto"/>
              </a:endParaRPr>
            </a:p>
          </p:txBody>
        </p:sp>
      </p:grpSp>
      <p:grpSp>
        <p:nvGrpSpPr>
          <p:cNvPr id="191" name="Google Shape;191;p5"/>
          <p:cNvGrpSpPr/>
          <p:nvPr/>
        </p:nvGrpSpPr>
        <p:grpSpPr>
          <a:xfrm>
            <a:off x="5743766" y="3953925"/>
            <a:ext cx="4485497" cy="899227"/>
            <a:chOff x="943723" y="3783783"/>
            <a:chExt cx="3364207" cy="674437"/>
          </a:xfrm>
        </p:grpSpPr>
        <p:sp>
          <p:nvSpPr>
            <p:cNvPr id="192" name="Google Shape;192;p5"/>
            <p:cNvSpPr/>
            <p:nvPr/>
          </p:nvSpPr>
          <p:spPr>
            <a:xfrm>
              <a:off x="943730" y="3783783"/>
              <a:ext cx="3364200" cy="674400"/>
            </a:xfrm>
            <a:prstGeom prst="rect">
              <a:avLst/>
            </a:prstGeom>
            <a:solidFill>
              <a:srgbClr val="0C57D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5"/>
            <p:cNvSpPr/>
            <p:nvPr/>
          </p:nvSpPr>
          <p:spPr>
            <a:xfrm>
              <a:off x="1632122" y="3783788"/>
              <a:ext cx="674400" cy="674400"/>
            </a:xfrm>
            <a:prstGeom prst="rtTriangle">
              <a:avLst/>
            </a:prstGeom>
            <a:solidFill>
              <a:srgbClr val="0E63F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5"/>
            <p:cNvSpPr/>
            <p:nvPr/>
          </p:nvSpPr>
          <p:spPr>
            <a:xfrm>
              <a:off x="943723" y="3783788"/>
              <a:ext cx="687600" cy="674400"/>
            </a:xfrm>
            <a:prstGeom prst="rtTriangle">
              <a:avLst/>
            </a:prstGeom>
            <a:solidFill>
              <a:srgbClr val="307AF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5"/>
            <p:cNvSpPr/>
            <p:nvPr/>
          </p:nvSpPr>
          <p:spPr>
            <a:xfrm>
              <a:off x="1210848" y="3783832"/>
              <a:ext cx="425700" cy="409200"/>
            </a:xfrm>
            <a:prstGeom prst="rect">
              <a:avLst/>
            </a:prstGeom>
            <a:noFill/>
            <a:ln>
              <a:noFill/>
            </a:ln>
          </p:spPr>
          <p:txBody>
            <a:bodyPr anchorCtr="0" anchor="b"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100"/>
                <a:buFont typeface="Arial"/>
                <a:buNone/>
              </a:pPr>
              <a:r>
                <a:rPr b="0" i="0" lang="es-ES" sz="2100" u="none" cap="none" strike="noStrike">
                  <a:solidFill>
                    <a:srgbClr val="FFFFFF"/>
                  </a:solidFill>
                  <a:latin typeface="Roboto"/>
                  <a:ea typeface="Roboto"/>
                  <a:cs typeface="Roboto"/>
                  <a:sym typeface="Roboto"/>
                </a:rPr>
                <a:t>5</a:t>
              </a:r>
              <a:endParaRPr b="0" i="0" sz="2100" u="none" cap="none" strike="noStrike">
                <a:solidFill>
                  <a:srgbClr val="FFFFFF"/>
                </a:solidFill>
                <a:latin typeface="Roboto"/>
                <a:ea typeface="Roboto"/>
                <a:cs typeface="Roboto"/>
                <a:sym typeface="Roboto"/>
              </a:endParaRPr>
            </a:p>
          </p:txBody>
        </p:sp>
        <p:sp>
          <p:nvSpPr>
            <p:cNvPr id="196" name="Google Shape;196;p5"/>
            <p:cNvSpPr/>
            <p:nvPr/>
          </p:nvSpPr>
          <p:spPr>
            <a:xfrm>
              <a:off x="1704712" y="3783820"/>
              <a:ext cx="2602200" cy="674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0" i="0" lang="es-ES" sz="1300" u="none" cap="none" strike="noStrike">
                  <a:solidFill>
                    <a:srgbClr val="FFFFFF"/>
                  </a:solidFill>
                  <a:latin typeface="Roboto"/>
                  <a:ea typeface="Roboto"/>
                  <a:cs typeface="Roboto"/>
                  <a:sym typeface="Roboto"/>
                </a:rPr>
                <a:t>Limitado a nivel prototipo académico (no despliegue en producción estatal).</a:t>
              </a:r>
              <a:endParaRPr b="0" i="0" sz="1300" u="none" cap="none" strike="noStrike">
                <a:solidFill>
                  <a:srgbClr val="FFFFFF"/>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METODOLOGÍA DEL PROYECTO</a:t>
            </a:r>
            <a:endParaRPr/>
          </a:p>
        </p:txBody>
      </p:sp>
      <p:sp>
        <p:nvSpPr>
          <p:cNvPr id="202" name="Google Shape;202;p6"/>
          <p:cNvSpPr txBox="1"/>
          <p:nvPr>
            <p:ph idx="1" type="body"/>
          </p:nvPr>
        </p:nvSpPr>
        <p:spPr>
          <a:xfrm>
            <a:off x="581196" y="2180500"/>
            <a:ext cx="5454300" cy="3678300"/>
          </a:xfrm>
          <a:prstGeom prst="rect">
            <a:avLst/>
          </a:prstGeom>
          <a:noFill/>
          <a:ln>
            <a:noFill/>
          </a:ln>
        </p:spPr>
        <p:txBody>
          <a:bodyPr anchorCtr="0" anchor="ctr" bIns="45700" lIns="91425" spcFirstLastPara="1" rIns="91425" wrap="square" tIns="45700">
            <a:normAutofit lnSpcReduction="10000"/>
          </a:bodyPr>
          <a:lstStyle/>
          <a:p>
            <a:pPr indent="-200844" lvl="0" marL="306000" rtl="0" algn="l">
              <a:lnSpc>
                <a:spcPct val="100000"/>
              </a:lnSpc>
              <a:spcBef>
                <a:spcPts val="0"/>
              </a:spcBef>
              <a:spcAft>
                <a:spcPts val="0"/>
              </a:spcAft>
              <a:buClr>
                <a:schemeClr val="dk1"/>
              </a:buClr>
              <a:buSzPts val="1100"/>
              <a:buFont typeface="Arial"/>
              <a:buNone/>
            </a:pPr>
            <a:r>
              <a:rPr lang="es-ES"/>
              <a:t>Enfoque cascada.</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Desarrollo lineal del proceso de desarrollo de software para tener un control del proceso de producción </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Etapas:</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333756" lvl="0" marL="457200" rtl="0" algn="l">
              <a:lnSpc>
                <a:spcPct val="100000"/>
              </a:lnSpc>
              <a:spcBef>
                <a:spcPts val="0"/>
              </a:spcBef>
              <a:spcAft>
                <a:spcPts val="0"/>
              </a:spcAft>
              <a:buSzPts val="1656"/>
              <a:buChar char="◼"/>
            </a:pPr>
            <a:r>
              <a:rPr lang="es-ES"/>
              <a:t>Análisis de requisitos.</a:t>
            </a:r>
            <a:endParaRPr/>
          </a:p>
          <a:p>
            <a:pPr indent="0" lvl="0" marL="457200" rtl="0" algn="l">
              <a:lnSpc>
                <a:spcPct val="100000"/>
              </a:lnSpc>
              <a:spcBef>
                <a:spcPts val="0"/>
              </a:spcBef>
              <a:spcAft>
                <a:spcPts val="0"/>
              </a:spcAft>
              <a:buSzPts val="1656"/>
              <a:buNone/>
            </a:pPr>
            <a:r>
              <a:t/>
            </a:r>
            <a:endParaRPr/>
          </a:p>
          <a:p>
            <a:pPr indent="-333756" lvl="0" marL="457200" rtl="0" algn="l">
              <a:lnSpc>
                <a:spcPct val="100000"/>
              </a:lnSpc>
              <a:spcBef>
                <a:spcPts val="0"/>
              </a:spcBef>
              <a:spcAft>
                <a:spcPts val="0"/>
              </a:spcAft>
              <a:buSzPts val="1656"/>
              <a:buChar char="◼"/>
            </a:pPr>
            <a:r>
              <a:rPr lang="es-ES"/>
              <a:t>Diseño de arquitectura y modelo de datos.</a:t>
            </a:r>
            <a:endParaRPr/>
          </a:p>
          <a:p>
            <a:pPr indent="0" lvl="0" marL="457200" rtl="0" algn="l">
              <a:lnSpc>
                <a:spcPct val="100000"/>
              </a:lnSpc>
              <a:spcBef>
                <a:spcPts val="0"/>
              </a:spcBef>
              <a:spcAft>
                <a:spcPts val="0"/>
              </a:spcAft>
              <a:buSzPts val="1656"/>
              <a:buNone/>
            </a:pPr>
            <a:r>
              <a:t/>
            </a:r>
            <a:endParaRPr/>
          </a:p>
          <a:p>
            <a:pPr indent="-333756" lvl="0" marL="457200" rtl="0" algn="l">
              <a:lnSpc>
                <a:spcPct val="100000"/>
              </a:lnSpc>
              <a:spcBef>
                <a:spcPts val="0"/>
              </a:spcBef>
              <a:spcAft>
                <a:spcPts val="0"/>
              </a:spcAft>
              <a:buSzPts val="1656"/>
              <a:buChar char="◼"/>
            </a:pPr>
            <a:r>
              <a:rPr lang="es-ES"/>
              <a:t>Desarrollo de prototipo.</a:t>
            </a:r>
            <a:endParaRPr/>
          </a:p>
          <a:p>
            <a:pPr indent="0" lvl="0" marL="0" rtl="0" algn="l">
              <a:lnSpc>
                <a:spcPct val="100000"/>
              </a:lnSpc>
              <a:spcBef>
                <a:spcPts val="0"/>
              </a:spcBef>
              <a:spcAft>
                <a:spcPts val="0"/>
              </a:spcAft>
              <a:buSzPts val="1656"/>
              <a:buNone/>
            </a:pPr>
            <a:r>
              <a:t/>
            </a:r>
            <a:endParaRPr/>
          </a:p>
          <a:p>
            <a:pPr indent="-333756" lvl="0" marL="457200" rtl="0" algn="l">
              <a:lnSpc>
                <a:spcPct val="100000"/>
              </a:lnSpc>
              <a:spcBef>
                <a:spcPts val="0"/>
              </a:spcBef>
              <a:spcAft>
                <a:spcPts val="0"/>
              </a:spcAft>
              <a:buSzPts val="1656"/>
              <a:buChar char="◼"/>
            </a:pPr>
            <a:r>
              <a:rPr lang="es-ES"/>
              <a:t>Pruebas de validación y ajustes.</a:t>
            </a:r>
            <a:endParaRPr/>
          </a:p>
          <a:p>
            <a:pPr indent="-200844" lvl="0" marL="306000" rtl="0" algn="l">
              <a:lnSpc>
                <a:spcPct val="100000"/>
              </a:lnSpc>
              <a:spcBef>
                <a:spcPts val="0"/>
              </a:spcBef>
              <a:spcAft>
                <a:spcPts val="0"/>
              </a:spcAft>
              <a:buSzPts val="1656"/>
              <a:buNone/>
            </a:pPr>
            <a:r>
              <a:t/>
            </a:r>
            <a:endParaRPr/>
          </a:p>
        </p:txBody>
      </p:sp>
      <p:pic>
        <p:nvPicPr>
          <p:cNvPr descr="El modelo en cascada en el desarrollo de software - IONOS" id="203" name="Google Shape;203;p6"/>
          <p:cNvPicPr preferRelativeResize="0"/>
          <p:nvPr/>
        </p:nvPicPr>
        <p:blipFill rotWithShape="1">
          <a:blip r:embed="rId3">
            <a:alphaModFix/>
          </a:blip>
          <a:srcRect b="0" l="0" r="0" t="0"/>
          <a:stretch/>
        </p:blipFill>
        <p:spPr>
          <a:xfrm>
            <a:off x="6236193" y="2180500"/>
            <a:ext cx="5545882" cy="32754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1800"/>
              <a:buNone/>
            </a:pPr>
            <a:r>
              <a:rPr lang="es-ES"/>
              <a:t>CRONOGRAMA DEL PROYECTO</a:t>
            </a:r>
            <a:endParaRPr/>
          </a:p>
        </p:txBody>
      </p:sp>
      <p:grpSp>
        <p:nvGrpSpPr>
          <p:cNvPr id="209" name="Google Shape;209;p12"/>
          <p:cNvGrpSpPr/>
          <p:nvPr/>
        </p:nvGrpSpPr>
        <p:grpSpPr>
          <a:xfrm>
            <a:off x="940619" y="1604569"/>
            <a:ext cx="10310761" cy="5418666"/>
            <a:chOff x="0" y="0"/>
            <a:chExt cx="10310761" cy="5418666"/>
          </a:xfrm>
        </p:grpSpPr>
        <p:sp>
          <p:nvSpPr>
            <p:cNvPr id="210" name="Google Shape;210;p12"/>
            <p:cNvSpPr/>
            <p:nvPr/>
          </p:nvSpPr>
          <p:spPr>
            <a:xfrm>
              <a:off x="0" y="1625600"/>
              <a:ext cx="10310761" cy="2167466"/>
            </a:xfrm>
            <a:prstGeom prst="notchedRightArrow">
              <a:avLst>
                <a:gd fmla="val 50000" name="adj1"/>
                <a:gd fmla="val 50000" name="adj2"/>
              </a:avLst>
            </a:prstGeom>
            <a:solidFill>
              <a:srgbClr val="CBCC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180" y="0"/>
              <a:ext cx="1674240" cy="21674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txBox="1"/>
            <p:nvPr/>
          </p:nvSpPr>
          <p:spPr>
            <a:xfrm>
              <a:off x="180" y="0"/>
              <a:ext cx="1674240" cy="2167466"/>
            </a:xfrm>
            <a:prstGeom prst="rect">
              <a:avLst/>
            </a:prstGeom>
            <a:noFill/>
            <a:ln>
              <a:noFill/>
            </a:ln>
          </p:spPr>
          <p:txBody>
            <a:bodyPr anchorCtr="0" anchor="b" bIns="128000" lIns="128000" spcFirstLastPara="1" rIns="128000" wrap="square" tIns="128000">
              <a:noAutofit/>
            </a:bodyPr>
            <a:lstStyle/>
            <a:p>
              <a:pPr indent="0" lvl="0" marL="0" marR="0" rtl="0" algn="ctr">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Gill Sans"/>
                  <a:ea typeface="Gill Sans"/>
                  <a:cs typeface="Gill Sans"/>
                  <a:sym typeface="Gill Sans"/>
                </a:rPr>
                <a:t>Semana 1 a 4: Levantamiento de información y análisis del proceso</a:t>
              </a:r>
              <a:endParaRPr/>
            </a:p>
          </p:txBody>
        </p:sp>
        <p:sp>
          <p:nvSpPr>
            <p:cNvPr id="213" name="Google Shape;213;p12"/>
            <p:cNvSpPr/>
            <p:nvPr/>
          </p:nvSpPr>
          <p:spPr>
            <a:xfrm>
              <a:off x="566366" y="2438400"/>
              <a:ext cx="541866" cy="541866"/>
            </a:xfrm>
            <a:prstGeom prst="ellipse">
              <a:avLst/>
            </a:prstGeom>
            <a:solidFill>
              <a:srgbClr val="17316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1758132" y="3251200"/>
              <a:ext cx="1674240" cy="21674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txBox="1"/>
            <p:nvPr/>
          </p:nvSpPr>
          <p:spPr>
            <a:xfrm>
              <a:off x="1758132" y="3251200"/>
              <a:ext cx="1674240" cy="2167466"/>
            </a:xfrm>
            <a:prstGeom prst="rect">
              <a:avLst/>
            </a:prstGeom>
            <a:noFill/>
            <a:ln>
              <a:noFill/>
            </a:ln>
          </p:spPr>
          <p:txBody>
            <a:bodyPr anchorCtr="0" anchor="t" bIns="128000" lIns="128000" spcFirstLastPara="1" rIns="128000" wrap="square" tIns="128000">
              <a:noAutofit/>
            </a:bodyPr>
            <a:lstStyle/>
            <a:p>
              <a:pPr indent="0" lvl="0" marL="0" marR="0" rtl="0" algn="ctr">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Gill Sans"/>
                  <a:ea typeface="Gill Sans"/>
                  <a:cs typeface="Gill Sans"/>
                  <a:sym typeface="Gill Sans"/>
                </a:rPr>
                <a:t>Semana 5 a 9: Arquitectura y modelo de datos.</a:t>
              </a:r>
              <a:endParaRPr/>
            </a:p>
          </p:txBody>
        </p:sp>
        <p:sp>
          <p:nvSpPr>
            <p:cNvPr id="216" name="Google Shape;216;p12"/>
            <p:cNvSpPr/>
            <p:nvPr/>
          </p:nvSpPr>
          <p:spPr>
            <a:xfrm>
              <a:off x="2324318" y="2438400"/>
              <a:ext cx="541866" cy="541866"/>
            </a:xfrm>
            <a:prstGeom prst="ellipse">
              <a:avLst/>
            </a:prstGeom>
            <a:solidFill>
              <a:srgbClr val="17316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2"/>
            <p:cNvSpPr/>
            <p:nvPr/>
          </p:nvSpPr>
          <p:spPr>
            <a:xfrm>
              <a:off x="3516084" y="0"/>
              <a:ext cx="2247516" cy="21674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
            <p:cNvSpPr txBox="1"/>
            <p:nvPr/>
          </p:nvSpPr>
          <p:spPr>
            <a:xfrm>
              <a:off x="3516084" y="0"/>
              <a:ext cx="2247516" cy="2167466"/>
            </a:xfrm>
            <a:prstGeom prst="rect">
              <a:avLst/>
            </a:prstGeom>
            <a:noFill/>
            <a:ln>
              <a:noFill/>
            </a:ln>
          </p:spPr>
          <p:txBody>
            <a:bodyPr anchorCtr="0" anchor="b" bIns="128000" lIns="128000" spcFirstLastPara="1" rIns="128000" wrap="square" tIns="128000">
              <a:noAutofit/>
            </a:bodyPr>
            <a:lstStyle/>
            <a:p>
              <a:pPr indent="0" lvl="0" marL="0" marR="0" rtl="0" algn="ctr">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Gill Sans"/>
                  <a:ea typeface="Gill Sans"/>
                  <a:cs typeface="Gill Sans"/>
                  <a:sym typeface="Gill Sans"/>
                </a:rPr>
                <a:t>Semana 10 a 12: Desarrollo del prototipo inicial.</a:t>
              </a:r>
              <a:endParaRPr/>
            </a:p>
          </p:txBody>
        </p:sp>
        <p:sp>
          <p:nvSpPr>
            <p:cNvPr id="219" name="Google Shape;219;p12"/>
            <p:cNvSpPr/>
            <p:nvPr/>
          </p:nvSpPr>
          <p:spPr>
            <a:xfrm>
              <a:off x="4368909" y="2438400"/>
              <a:ext cx="541866" cy="541866"/>
            </a:xfrm>
            <a:prstGeom prst="ellipse">
              <a:avLst/>
            </a:prstGeom>
            <a:solidFill>
              <a:srgbClr val="17316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p:nvPr/>
          </p:nvSpPr>
          <p:spPr>
            <a:xfrm>
              <a:off x="5847312" y="3251200"/>
              <a:ext cx="1674240" cy="21674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txBox="1"/>
            <p:nvPr/>
          </p:nvSpPr>
          <p:spPr>
            <a:xfrm>
              <a:off x="5847312" y="3251200"/>
              <a:ext cx="1674240" cy="2167466"/>
            </a:xfrm>
            <a:prstGeom prst="rect">
              <a:avLst/>
            </a:prstGeom>
            <a:noFill/>
            <a:ln>
              <a:noFill/>
            </a:ln>
          </p:spPr>
          <p:txBody>
            <a:bodyPr anchorCtr="0" anchor="t" bIns="128000" lIns="128000" spcFirstLastPara="1" rIns="128000" wrap="square" tIns="128000">
              <a:noAutofit/>
            </a:bodyPr>
            <a:lstStyle/>
            <a:p>
              <a:pPr indent="0" lvl="0" marL="0" marR="0" rtl="0" algn="ctr">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Gill Sans"/>
                  <a:ea typeface="Gill Sans"/>
                  <a:cs typeface="Gill Sans"/>
                  <a:sym typeface="Gill Sans"/>
                </a:rPr>
                <a:t>Semana 12 a 16 : Pruebas y mejoras.</a:t>
              </a:r>
              <a:endParaRPr/>
            </a:p>
          </p:txBody>
        </p:sp>
        <p:sp>
          <p:nvSpPr>
            <p:cNvPr id="222" name="Google Shape;222;p12"/>
            <p:cNvSpPr/>
            <p:nvPr/>
          </p:nvSpPr>
          <p:spPr>
            <a:xfrm>
              <a:off x="6413499" y="2438400"/>
              <a:ext cx="541866" cy="541866"/>
            </a:xfrm>
            <a:prstGeom prst="ellipse">
              <a:avLst/>
            </a:prstGeom>
            <a:solidFill>
              <a:srgbClr val="17316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7605264" y="0"/>
              <a:ext cx="1674240" cy="21674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txBox="1"/>
            <p:nvPr/>
          </p:nvSpPr>
          <p:spPr>
            <a:xfrm>
              <a:off x="7605264" y="0"/>
              <a:ext cx="1674240" cy="2167466"/>
            </a:xfrm>
            <a:prstGeom prst="rect">
              <a:avLst/>
            </a:prstGeom>
            <a:noFill/>
            <a:ln>
              <a:noFill/>
            </a:ln>
          </p:spPr>
          <p:txBody>
            <a:bodyPr anchorCtr="0" anchor="b" bIns="128000" lIns="128000" spcFirstLastPara="1" rIns="128000" wrap="square" tIns="128000">
              <a:noAutofit/>
            </a:bodyPr>
            <a:lstStyle/>
            <a:p>
              <a:pPr indent="0" lvl="0" marL="0" marR="0" rtl="0" algn="ctr">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Gill Sans"/>
                  <a:ea typeface="Gill Sans"/>
                  <a:cs typeface="Gill Sans"/>
                  <a:sym typeface="Gill Sans"/>
                </a:rPr>
                <a:t>Semana 16: Presentación y entrega final.</a:t>
              </a:r>
              <a:endParaRPr/>
            </a:p>
          </p:txBody>
        </p:sp>
        <p:sp>
          <p:nvSpPr>
            <p:cNvPr id="225" name="Google Shape;225;p12"/>
            <p:cNvSpPr/>
            <p:nvPr/>
          </p:nvSpPr>
          <p:spPr>
            <a:xfrm>
              <a:off x="8171451" y="2438400"/>
              <a:ext cx="541866" cy="541866"/>
            </a:xfrm>
            <a:prstGeom prst="ellipse">
              <a:avLst/>
            </a:prstGeom>
            <a:solidFill>
              <a:srgbClr val="17316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ARQUITECTURA DE SOFTWARE</a:t>
            </a:r>
            <a:endParaRPr/>
          </a:p>
        </p:txBody>
      </p:sp>
      <p:sp>
        <p:nvSpPr>
          <p:cNvPr id="231" name="Google Shape;231;p26"/>
          <p:cNvSpPr txBox="1"/>
          <p:nvPr>
            <p:ph idx="1" type="body"/>
          </p:nvPr>
        </p:nvSpPr>
        <p:spPr>
          <a:xfrm>
            <a:off x="423877" y="2300749"/>
            <a:ext cx="5141182" cy="3685870"/>
          </a:xfrm>
          <a:prstGeom prst="rect">
            <a:avLst/>
          </a:prstGeom>
          <a:noFill/>
          <a:ln>
            <a:noFill/>
          </a:ln>
        </p:spPr>
        <p:txBody>
          <a:bodyPr anchorCtr="0" anchor="ctr" bIns="45700" lIns="91425" spcFirstLastPara="1" rIns="91425" wrap="square" tIns="45700">
            <a:normAutofit/>
          </a:bodyPr>
          <a:lstStyle/>
          <a:p>
            <a:pPr indent="-285750" lvl="0" marL="390906" rtl="0" algn="l">
              <a:lnSpc>
                <a:spcPct val="100000"/>
              </a:lnSpc>
              <a:spcBef>
                <a:spcPts val="0"/>
              </a:spcBef>
              <a:spcAft>
                <a:spcPts val="0"/>
              </a:spcAft>
              <a:buClr>
                <a:schemeClr val="dk1"/>
              </a:buClr>
              <a:buSzPts val="1100"/>
              <a:buChar char="◼"/>
            </a:pPr>
            <a:r>
              <a:rPr lang="es-ES"/>
              <a:t>Aplicación Web cliente-servidor.</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85750" lvl="0" marL="390906" rtl="0" algn="l">
              <a:lnSpc>
                <a:spcPct val="100000"/>
              </a:lnSpc>
              <a:spcBef>
                <a:spcPts val="0"/>
              </a:spcBef>
              <a:spcAft>
                <a:spcPts val="0"/>
              </a:spcAft>
              <a:buClr>
                <a:schemeClr val="dk1"/>
              </a:buClr>
              <a:buSzPts val="1100"/>
              <a:buChar char="◼"/>
            </a:pPr>
            <a:r>
              <a:rPr lang="es-ES"/>
              <a:t>Frontend: interfaz de usuario para herederos y funcionarios.</a:t>
            </a:r>
            <a:endParaRPr/>
          </a:p>
          <a:p>
            <a:pPr indent="-215900" lvl="0" marL="390906" rtl="0" algn="l">
              <a:lnSpc>
                <a:spcPct val="100000"/>
              </a:lnSpc>
              <a:spcBef>
                <a:spcPts val="0"/>
              </a:spcBef>
              <a:spcAft>
                <a:spcPts val="0"/>
              </a:spcAft>
              <a:buClr>
                <a:schemeClr val="dk1"/>
              </a:buClr>
              <a:buSzPts val="1100"/>
              <a:buNone/>
            </a:pPr>
            <a:r>
              <a:t/>
            </a:r>
            <a:endParaRPr/>
          </a:p>
          <a:p>
            <a:pPr indent="-285750" lvl="0" marL="390906" rtl="0" algn="l">
              <a:lnSpc>
                <a:spcPct val="100000"/>
              </a:lnSpc>
              <a:spcBef>
                <a:spcPts val="0"/>
              </a:spcBef>
              <a:spcAft>
                <a:spcPts val="0"/>
              </a:spcAft>
              <a:buClr>
                <a:schemeClr val="dk1"/>
              </a:buClr>
              <a:buSzPts val="1100"/>
              <a:buChar char="◼"/>
            </a:pPr>
            <a:r>
              <a:rPr lang="es-ES"/>
              <a:t>Backend: lógica de negocio y validación de documentos.</a:t>
            </a:r>
            <a:endParaRPr/>
          </a:p>
          <a:p>
            <a:pPr indent="-215900" lvl="0" marL="390906" rtl="0" algn="l">
              <a:lnSpc>
                <a:spcPct val="100000"/>
              </a:lnSpc>
              <a:spcBef>
                <a:spcPts val="0"/>
              </a:spcBef>
              <a:spcAft>
                <a:spcPts val="0"/>
              </a:spcAft>
              <a:buClr>
                <a:schemeClr val="dk1"/>
              </a:buClr>
              <a:buSzPts val="1100"/>
              <a:buNone/>
            </a:pPr>
            <a:r>
              <a:t/>
            </a:r>
            <a:endParaRPr/>
          </a:p>
          <a:p>
            <a:pPr indent="-285750" lvl="0" marL="390906" rtl="0" algn="l">
              <a:lnSpc>
                <a:spcPct val="100000"/>
              </a:lnSpc>
              <a:spcBef>
                <a:spcPts val="0"/>
              </a:spcBef>
              <a:spcAft>
                <a:spcPts val="0"/>
              </a:spcAft>
              <a:buClr>
                <a:schemeClr val="dk1"/>
              </a:buClr>
              <a:buSzPts val="1100"/>
              <a:buChar char="◼"/>
            </a:pPr>
            <a:r>
              <a:rPr lang="es-ES"/>
              <a:t>Base de datos centralizada para gestión de expedientes.</a:t>
            </a:r>
            <a:endParaRPr/>
          </a:p>
          <a:p>
            <a:pPr indent="-215900" lvl="0" marL="390906" rtl="0" algn="l">
              <a:lnSpc>
                <a:spcPct val="100000"/>
              </a:lnSpc>
              <a:spcBef>
                <a:spcPts val="0"/>
              </a:spcBef>
              <a:spcAft>
                <a:spcPts val="0"/>
              </a:spcAft>
              <a:buClr>
                <a:schemeClr val="dk1"/>
              </a:buClr>
              <a:buSzPts val="1100"/>
              <a:buNone/>
            </a:pPr>
            <a:r>
              <a:t/>
            </a:r>
            <a:endParaRPr/>
          </a:p>
          <a:p>
            <a:pPr indent="-285750" lvl="0" marL="390906" rtl="0" algn="l">
              <a:lnSpc>
                <a:spcPct val="100000"/>
              </a:lnSpc>
              <a:spcBef>
                <a:spcPts val="0"/>
              </a:spcBef>
              <a:spcAft>
                <a:spcPts val="0"/>
              </a:spcAft>
              <a:buClr>
                <a:schemeClr val="dk1"/>
              </a:buClr>
              <a:buSzPts val="1100"/>
              <a:buChar char="◼"/>
            </a:pPr>
            <a:r>
              <a:rPr lang="es-ES"/>
              <a:t>Integración con sistema de firma electrónica simple/avanzada.</a:t>
            </a:r>
            <a:endParaRPr/>
          </a:p>
          <a:p>
            <a:pPr indent="-200844" lvl="0" marL="306000" rtl="0" algn="l">
              <a:lnSpc>
                <a:spcPct val="100000"/>
              </a:lnSpc>
              <a:spcBef>
                <a:spcPts val="0"/>
              </a:spcBef>
              <a:spcAft>
                <a:spcPts val="0"/>
              </a:spcAft>
              <a:buSzPts val="1656"/>
              <a:buNone/>
            </a:pPr>
            <a:r>
              <a:t/>
            </a:r>
            <a:endParaRPr/>
          </a:p>
        </p:txBody>
      </p:sp>
      <p:pic>
        <p:nvPicPr>
          <p:cNvPr descr="Diagrama&#10;&#10;El contenido generado por IA puede ser incorrecto." id="232" name="Google Shape;232;p26"/>
          <p:cNvPicPr preferRelativeResize="0"/>
          <p:nvPr/>
        </p:nvPicPr>
        <p:blipFill rotWithShape="1">
          <a:blip r:embed="rId3">
            <a:alphaModFix/>
          </a:blip>
          <a:srcRect b="0" l="0" r="0" t="0"/>
          <a:stretch/>
        </p:blipFill>
        <p:spPr>
          <a:xfrm>
            <a:off x="5565059" y="2005168"/>
            <a:ext cx="6151036" cy="42770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9"/>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MODELO DE DATOS</a:t>
            </a:r>
            <a:endParaRPr/>
          </a:p>
        </p:txBody>
      </p:sp>
      <p:pic>
        <p:nvPicPr>
          <p:cNvPr descr="Diagrama, Esquemático&#10;&#10;El contenido generado por IA puede ser incorrecto." id="238" name="Google Shape;238;p9"/>
          <p:cNvPicPr preferRelativeResize="0"/>
          <p:nvPr/>
        </p:nvPicPr>
        <p:blipFill rotWithShape="1">
          <a:blip r:embed="rId3">
            <a:alphaModFix/>
          </a:blip>
          <a:srcRect b="0" l="0" r="0" t="0"/>
          <a:stretch/>
        </p:blipFill>
        <p:spPr>
          <a:xfrm>
            <a:off x="1532785" y="1803551"/>
            <a:ext cx="7365478" cy="45860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0"/>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TECNOLOGÍAS UTILIZADAS</a:t>
            </a:r>
            <a:endParaRPr/>
          </a:p>
        </p:txBody>
      </p:sp>
      <p:sp>
        <p:nvSpPr>
          <p:cNvPr id="244" name="Google Shape;244;p10"/>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p>
            <a:pPr indent="-200844" lvl="0" marL="306000" rtl="0" algn="l">
              <a:lnSpc>
                <a:spcPct val="100000"/>
              </a:lnSpc>
              <a:spcBef>
                <a:spcPts val="0"/>
              </a:spcBef>
              <a:spcAft>
                <a:spcPts val="0"/>
              </a:spcAft>
              <a:buClr>
                <a:schemeClr val="dk1"/>
              </a:buClr>
              <a:buSzPts val="1100"/>
              <a:buFont typeface="Arial"/>
              <a:buNone/>
            </a:pPr>
            <a:r>
              <a:rPr lang="es-ES"/>
              <a:t>Frontend: HTML /CSS/JAVASCRIPT  (para prototipo).</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Backend: PYTHON .</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Base de datos: ORACLE CLOUD .</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Firma electrónica: integración con APP externa </a:t>
            </a:r>
            <a:endParaRPr/>
          </a:p>
          <a:p>
            <a:pPr indent="-200844" lvl="0" marL="306000" rtl="0" algn="l">
              <a:lnSpc>
                <a:spcPct val="100000"/>
              </a:lnSpc>
              <a:spcBef>
                <a:spcPts val="0"/>
              </a:spcBef>
              <a:spcAft>
                <a:spcPts val="0"/>
              </a:spcAft>
              <a:buClr>
                <a:schemeClr val="dk1"/>
              </a:buClr>
              <a:buSzPts val="1100"/>
              <a:buFont typeface="Arial"/>
              <a:buNone/>
            </a:pPr>
            <a:r>
              <a:rPr lang="es-ES"/>
              <a:t>Metodología: Cascada .</a:t>
            </a:r>
            <a:endParaRPr/>
          </a:p>
          <a:p>
            <a:pPr indent="-200844" lvl="0" marL="306000" rtl="0" algn="l">
              <a:lnSpc>
                <a:spcPct val="100000"/>
              </a:lnSpc>
              <a:spcBef>
                <a:spcPts val="0"/>
              </a:spcBef>
              <a:spcAft>
                <a:spcPts val="0"/>
              </a:spcAft>
              <a:buSzPts val="1656"/>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8590b891d7_0_1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800"/>
              <a:buNone/>
            </a:pPr>
            <a:r>
              <a:rPr lang="es-ES"/>
              <a:t>SOLUCIÓN OFRECIDA </a:t>
            </a:r>
            <a:endParaRPr/>
          </a:p>
        </p:txBody>
      </p:sp>
      <p:sp>
        <p:nvSpPr>
          <p:cNvPr id="251" name="Google Shape;251;g38590b891d7_0_17"/>
          <p:cNvSpPr txBox="1"/>
          <p:nvPr>
            <p:ph idx="1" type="body"/>
          </p:nvPr>
        </p:nvSpPr>
        <p:spPr>
          <a:xfrm>
            <a:off x="581192" y="2180496"/>
            <a:ext cx="11029500" cy="3678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360"/>
              </a:spcBef>
              <a:spcAft>
                <a:spcPts val="600"/>
              </a:spcAft>
              <a:buSzPts val="1656"/>
              <a:buNone/>
            </a:pPr>
            <a:r>
              <a:t/>
            </a:r>
            <a:endParaRPr/>
          </a:p>
        </p:txBody>
      </p:sp>
      <p:pic>
        <p:nvPicPr>
          <p:cNvPr id="252" name="Google Shape;252;g38590b891d7_0_17"/>
          <p:cNvPicPr preferRelativeResize="0"/>
          <p:nvPr/>
        </p:nvPicPr>
        <p:blipFill rotWithShape="1">
          <a:blip r:embed="rId3">
            <a:alphaModFix/>
          </a:blip>
          <a:srcRect b="0" l="0" r="0" t="0"/>
          <a:stretch/>
        </p:blipFill>
        <p:spPr>
          <a:xfrm>
            <a:off x="581200" y="1814225"/>
            <a:ext cx="11029499" cy="4044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MEJORAS A FUTURO</a:t>
            </a:r>
            <a:endParaRPr/>
          </a:p>
        </p:txBody>
      </p:sp>
      <p:sp>
        <p:nvSpPr>
          <p:cNvPr id="258" name="Google Shape;258;p11"/>
          <p:cNvSpPr txBox="1"/>
          <p:nvPr>
            <p:ph idx="1" type="body"/>
          </p:nvPr>
        </p:nvSpPr>
        <p:spPr>
          <a:xfrm>
            <a:off x="533692" y="2180496"/>
            <a:ext cx="11029500" cy="3678300"/>
          </a:xfrm>
          <a:prstGeom prst="rect">
            <a:avLst/>
          </a:prstGeom>
          <a:noFill/>
          <a:ln>
            <a:noFill/>
          </a:ln>
        </p:spPr>
        <p:txBody>
          <a:bodyPr anchorCtr="0" anchor="ctr" bIns="45700" lIns="91425" spcFirstLastPara="1" rIns="91425" wrap="square" tIns="45700">
            <a:normAutofit/>
          </a:bodyPr>
          <a:lstStyle/>
          <a:p>
            <a:pPr indent="-200844" lvl="0" marL="306000" rtl="0" algn="l">
              <a:lnSpc>
                <a:spcPct val="100000"/>
              </a:lnSpc>
              <a:spcBef>
                <a:spcPts val="0"/>
              </a:spcBef>
              <a:spcAft>
                <a:spcPts val="0"/>
              </a:spcAft>
              <a:buClr>
                <a:schemeClr val="dk1"/>
              </a:buClr>
              <a:buSzPts val="1100"/>
              <a:buFont typeface="Arial"/>
              <a:buNone/>
            </a:pPr>
            <a:r>
              <a:rPr lang="es-ES"/>
              <a:t>Integración con ClaveÚnica para validación de identidad.</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Interoperabilidad con registros del Registro Civil.</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200844" lvl="0" marL="306000" rtl="0" algn="l">
              <a:lnSpc>
                <a:spcPct val="100000"/>
              </a:lnSpc>
              <a:spcBef>
                <a:spcPts val="0"/>
              </a:spcBef>
              <a:spcAft>
                <a:spcPts val="0"/>
              </a:spcAft>
              <a:buClr>
                <a:schemeClr val="dk1"/>
              </a:buClr>
              <a:buSzPts val="1100"/>
              <a:buFont typeface="Arial"/>
              <a:buNone/>
            </a:pPr>
            <a:r>
              <a:rPr lang="es-ES"/>
              <a:t>Despliegue en infraestructura estatal segura (cloud/híbrida).</a:t>
            </a:r>
            <a:endParaRPr/>
          </a:p>
          <a:p>
            <a:pPr indent="-200844" lvl="0" marL="30600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s-ES"/>
              <a:t>  Optimización de usabilidad con app móvil.</a:t>
            </a:r>
            <a:endParaRPr/>
          </a:p>
          <a:p>
            <a:pPr indent="-200844" lvl="0" marL="306000" rtl="0" algn="l">
              <a:lnSpc>
                <a:spcPct val="100000"/>
              </a:lnSpc>
              <a:spcBef>
                <a:spcPts val="0"/>
              </a:spcBef>
              <a:spcAft>
                <a:spcPts val="0"/>
              </a:spcAft>
              <a:buSzPts val="1656"/>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13"/>
          <p:cNvSpPr/>
          <p:nvPr/>
        </p:nvSpPr>
        <p:spPr>
          <a:xfrm>
            <a:off x="0" y="1"/>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5" name="Google Shape;265;p13"/>
          <p:cNvSpPr/>
          <p:nvPr/>
        </p:nvSpPr>
        <p:spPr>
          <a:xfrm>
            <a:off x="8042147" y="723899"/>
            <a:ext cx="3703320" cy="566666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nvGrpSpPr>
          <p:cNvPr id="266" name="Google Shape;266;p13"/>
          <p:cNvGrpSpPr/>
          <p:nvPr/>
        </p:nvGrpSpPr>
        <p:grpSpPr>
          <a:xfrm>
            <a:off x="446534" y="453643"/>
            <a:ext cx="11298933" cy="98554"/>
            <a:chOff x="446534" y="453643"/>
            <a:chExt cx="11298933" cy="98554"/>
          </a:xfrm>
        </p:grpSpPr>
        <p:sp>
          <p:nvSpPr>
            <p:cNvPr id="267" name="Google Shape;267;p13"/>
            <p:cNvSpPr/>
            <p:nvPr/>
          </p:nvSpPr>
          <p:spPr>
            <a:xfrm>
              <a:off x="446534" y="457200"/>
              <a:ext cx="3703320" cy="9499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8" name="Google Shape;268;p13"/>
            <p:cNvSpPr/>
            <p:nvPr/>
          </p:nvSpPr>
          <p:spPr>
            <a:xfrm>
              <a:off x="8042147" y="453643"/>
              <a:ext cx="3703320" cy="98554"/>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9" name="Google Shape;269;p13"/>
            <p:cNvSpPr/>
            <p:nvPr/>
          </p:nvSpPr>
          <p:spPr>
            <a:xfrm>
              <a:off x="4241830" y="457200"/>
              <a:ext cx="3703320" cy="9144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270" name="Google Shape;270;p13"/>
          <p:cNvSpPr txBox="1"/>
          <p:nvPr>
            <p:ph type="ctrTitle"/>
          </p:nvPr>
        </p:nvSpPr>
        <p:spPr>
          <a:xfrm>
            <a:off x="8296275" y="1419226"/>
            <a:ext cx="3081576" cy="17467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FFFFFF"/>
              </a:buClr>
              <a:buSzPts val="3600"/>
              <a:buFont typeface="Gill Sans"/>
              <a:buNone/>
            </a:pPr>
            <a:r>
              <a:rPr lang="es-ES">
                <a:solidFill>
                  <a:srgbClr val="FFFFFF"/>
                </a:solidFill>
              </a:rPr>
              <a:t>GRACIAS</a:t>
            </a:r>
            <a:endParaRPr/>
          </a:p>
        </p:txBody>
      </p:sp>
      <p:sp>
        <p:nvSpPr>
          <p:cNvPr id="271" name="Google Shape;271;p13"/>
          <p:cNvSpPr txBox="1"/>
          <p:nvPr>
            <p:ph idx="1" type="subTitle"/>
          </p:nvPr>
        </p:nvSpPr>
        <p:spPr>
          <a:xfrm>
            <a:off x="8296275" y="3505095"/>
            <a:ext cx="3081576" cy="262900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72"/>
              <a:buNone/>
            </a:pPr>
            <a:r>
              <a:t/>
            </a:r>
            <a:endParaRPr/>
          </a:p>
          <a:p>
            <a:pPr indent="0" lvl="0" marL="0" rtl="0" algn="l">
              <a:lnSpc>
                <a:spcPct val="100000"/>
              </a:lnSpc>
              <a:spcBef>
                <a:spcPts val="920"/>
              </a:spcBef>
              <a:spcAft>
                <a:spcPts val="0"/>
              </a:spcAft>
              <a:buSzPts val="1472"/>
              <a:buNone/>
            </a:pPr>
            <a:r>
              <a:t/>
            </a:r>
            <a:endParaRPr>
              <a:solidFill>
                <a:schemeClr val="lt2"/>
              </a:solidFill>
            </a:endParaRPr>
          </a:p>
          <a:p>
            <a:pPr indent="0" lvl="0" marL="0" rtl="0" algn="l">
              <a:lnSpc>
                <a:spcPct val="100000"/>
              </a:lnSpc>
              <a:spcBef>
                <a:spcPts val="920"/>
              </a:spcBef>
              <a:spcAft>
                <a:spcPts val="0"/>
              </a:spcAft>
              <a:buSzPts val="1472"/>
              <a:buNone/>
            </a:pPr>
            <a:r>
              <a:t/>
            </a:r>
            <a:endParaRPr>
              <a:solidFill>
                <a:schemeClr val="lt2"/>
              </a:solidFill>
            </a:endParaRPr>
          </a:p>
        </p:txBody>
      </p:sp>
      <p:pic>
        <p:nvPicPr>
          <p:cNvPr descr="Números digitales" id="272" name="Google Shape;272;p13"/>
          <p:cNvPicPr preferRelativeResize="0"/>
          <p:nvPr/>
        </p:nvPicPr>
        <p:blipFill rotWithShape="1">
          <a:blip r:embed="rId3">
            <a:alphaModFix/>
          </a:blip>
          <a:srcRect b="1" l="2189" r="9640" t="0"/>
          <a:stretch/>
        </p:blipFill>
        <p:spPr>
          <a:xfrm>
            <a:off x="446534" y="723899"/>
            <a:ext cx="7498616" cy="56769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ersonaliza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2025-08-31T23:18:34Z</dcterms:created>
  <dc:creator>YEREMIAS . VENEGAS PILQUINIR</dc:creator>
</cp:coreProperties>
</file>